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659" r:id="rId3"/>
    <p:sldId id="257" r:id="rId4"/>
    <p:sldId id="662" r:id="rId5"/>
    <p:sldId id="665" r:id="rId6"/>
    <p:sldId id="667" r:id="rId7"/>
    <p:sldId id="666" r:id="rId8"/>
    <p:sldId id="668" r:id="rId9"/>
    <p:sldId id="669" r:id="rId10"/>
    <p:sldId id="670" r:id="rId11"/>
    <p:sldId id="671" r:id="rId12"/>
    <p:sldId id="672" r:id="rId13"/>
    <p:sldId id="673" r:id="rId14"/>
    <p:sldId id="674" r:id="rId15"/>
    <p:sldId id="660" r:id="rId16"/>
    <p:sldId id="661" r:id="rId17"/>
    <p:sldId id="675" r:id="rId18"/>
    <p:sldId id="676" r:id="rId19"/>
    <p:sldId id="678" r:id="rId20"/>
    <p:sldId id="677" r:id="rId21"/>
    <p:sldId id="679" r:id="rId22"/>
    <p:sldId id="680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009"/>
    <p:restoredTop sz="94661"/>
  </p:normalViewPr>
  <p:slideViewPr>
    <p:cSldViewPr snapToGrid="0">
      <p:cViewPr varScale="1">
        <p:scale>
          <a:sx n="129" d="100"/>
          <a:sy n="129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44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26B4B-5766-4942-933C-A3989C0263BD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6866A-8C50-CB44-88CE-72F70787BE5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584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6866A-8C50-CB44-88CE-72F70787BE5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7077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6866A-8C50-CB44-88CE-72F70787BE5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315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D145-66A5-7810-B0EF-64B6046F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3E755B-36BD-68B1-2F16-D8DCAA213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D10827-9F9F-8DD9-C057-8052D9824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64985F-9561-3255-98C1-C14DB8168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6866A-8C50-CB44-88CE-72F70787BE5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796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B23D81-D8A9-349D-BD63-3B966C5C6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E488E3C-E85F-FF89-79F8-4434EFC40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5331CC-CF62-2624-02ED-65B626912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F2237A-38C1-BD47-F8AF-B5D9C754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F97626-83F5-DFBC-20E6-67056822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345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0B4B08-57C9-593E-C89E-DDECDD58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E5EB29-8C7B-5DB4-5FD9-01DC4103F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623A6D-EB73-7A34-8F38-2963ED49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B21069-8FC9-A063-85F1-C31107D3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D25E63-A4CD-07D3-49D2-56FD4AD2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54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B2709-18D9-B6DF-18B6-AD3D04D7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8D6B87-BB87-2297-B5A3-094C839A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3CB18E-9A8E-FDA2-3AD5-25EC91A90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684A48-D97D-9C43-A16F-99B01A1F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4211A9-54C0-138F-B574-8FC8EA59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351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E09742-CEA6-1D63-63B5-69D3354F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A4DC94-DCD2-99CA-C492-764E7EE37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93D505-6FE8-C84C-30F7-3838D8E2E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6B34429-E842-B9C9-A2DB-A91B1066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20F6A23-7593-7F1A-AA02-8DB58C7A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099D242-AC1A-3E01-E5A7-65A57B68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747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038A95-C9C2-C805-0888-60986BD7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CE7063-7BB2-2349-5B7F-992743180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ED73DF8-FBA8-FB8A-467C-C7A82DECB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1DAF011-CB25-16EC-8253-3C76A916B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47B3BA1-51A3-8D7C-2C51-61C35F01B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1AFDC90-698D-A099-B0FB-9BA0F278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BD808C4-7EE3-7343-9D1A-F5F0E8C1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65A2AEF-0BFF-C555-A546-A1C1184D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623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9D9693-7194-8BBC-A6BC-4D55BFE1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CEB9EF0-D595-1902-F30E-52FBAD0B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F5FD05-8C06-E1CF-0EAC-E0215346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547A14-1096-DB9A-F141-9C7EF12A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097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D6A5CF0-FA44-0244-45DC-B53A4279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4DF8AB6-DCAA-AECC-6D80-5C8F0DF64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A4A702-4873-5616-C057-3B325590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121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944BD3-10D9-38A2-AD77-04427EF2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489A11-7110-F880-C347-2531D11B0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787D67-AE25-F682-2974-34751C4D3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0DA29F5-9907-276A-B9BC-2B5792B7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18BFDC8-B899-03DD-06C6-FB931CC4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2263134-04EC-8D05-665F-AAC8D5BD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42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5E3C6A-65A6-7D0C-6525-E7162D5B1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1A4F058-413F-AFCA-95A7-612FB1308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913D43-4B10-7B1C-8065-629D6E82D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7885853-489F-DE6E-C85B-E33D54DF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138EA2-BF41-D74A-F9B9-7C915AFA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ED27C2-5297-87C6-EE24-619CD664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245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00978-AB0E-A329-4883-404EB496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E3E77D1-54FD-8C54-819C-0B1FFD248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45A346-9BDC-9529-9563-F1862F20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0F5B1B-68B0-2E11-B49F-7DFB780D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618D36-940D-805B-074E-3F06685C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814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863A9E1-F374-FFCA-AF03-349C585FC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FE2CFBD-43CD-A7B0-EB15-3BA3FE419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E5052D-47D4-74A9-370A-DD5EBE3C1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A0628F-4FA4-529F-0537-472E07AE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E0970C-C5DE-2F91-A340-F867C1C4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7777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8373C20-63F4-C1F2-ACC6-BB02E9B6F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CED510A-5069-12C8-5A56-6D7256354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BCE081-B3D2-E4F1-39B2-2712F1E5D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485ED-53F3-8647-ACCA-119E82008A0C}" type="datetimeFigureOut">
              <a:rPr lang="it-IT" smtClean="0"/>
              <a:t>01/06/26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AA0A70-F12D-B93C-FA01-BFE177FE7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CBF483-AA47-DD4C-8ED7-0107F4288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D8E98-1FC2-D641-AEFF-A146EA3B418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667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DD024EA-B637-A3E6-7416-9F9FC9C272BD}"/>
              </a:ext>
            </a:extLst>
          </p:cNvPr>
          <p:cNvSpPr txBox="1"/>
          <p:nvPr/>
        </p:nvSpPr>
        <p:spPr>
          <a:xfrm>
            <a:off x="2134336" y="861534"/>
            <a:ext cx="8253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>
                <a:solidFill>
                  <a:srgbClr val="C00000"/>
                </a:solidFill>
                <a:latin typeface="Times-Roman" pitchFamily="2" charset="0"/>
              </a:rPr>
              <a:t>Constrained Density Functional Perturbation Theory – Hands on</a:t>
            </a:r>
            <a:endParaRPr lang="fr-FR" sz="20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32442E65-23D7-AB6A-4C41-324E5956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718" y="5474913"/>
            <a:ext cx="1454535" cy="446441"/>
          </a:xfrm>
          <a:prstGeom prst="rect">
            <a:avLst/>
          </a:prstGeom>
        </p:spPr>
      </p:pic>
      <p:pic>
        <p:nvPicPr>
          <p:cNvPr id="6" name="Picture 2" descr="#">
            <a:extLst>
              <a:ext uri="{FF2B5EF4-FFF2-40B4-BE49-F238E27FC236}">
                <a16:creationId xmlns:a16="http://schemas.microsoft.com/office/drawing/2014/main" id="{9309F88D-497B-027F-5B3E-E0F22B01D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254" y="4610633"/>
            <a:ext cx="1739859" cy="31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#">
            <a:extLst>
              <a:ext uri="{FF2B5EF4-FFF2-40B4-BE49-F238E27FC236}">
                <a16:creationId xmlns:a16="http://schemas.microsoft.com/office/drawing/2014/main" id="{F0342EE0-F7A6-1371-9762-5D4167310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519" y="4349968"/>
            <a:ext cx="1179652" cy="83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#">
            <a:extLst>
              <a:ext uri="{FF2B5EF4-FFF2-40B4-BE49-F238E27FC236}">
                <a16:creationId xmlns:a16="http://schemas.microsoft.com/office/drawing/2014/main" id="{8E77C57A-C422-22A9-A912-4FBD14012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567" y="4634112"/>
            <a:ext cx="1777210" cy="26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00B7C18-8460-D39A-45A4-33C2C335E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197" y="5302238"/>
            <a:ext cx="1649443" cy="79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663A7C3-50CA-4979-6906-8893815496F0}"/>
              </a:ext>
            </a:extLst>
          </p:cNvPr>
          <p:cNvSpPr/>
          <p:nvPr/>
        </p:nvSpPr>
        <p:spPr>
          <a:xfrm>
            <a:off x="3267130" y="3930647"/>
            <a:ext cx="62066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555555"/>
                </a:solidFill>
              </a:rPr>
              <a:t>Giovanni Marini and Matteo Calandra,   Phys. </a:t>
            </a:r>
            <a:r>
              <a:rPr lang="fr-FR" sz="1400" dirty="0" err="1">
                <a:solidFill>
                  <a:srgbClr val="555555"/>
                </a:solidFill>
              </a:rPr>
              <a:t>Rev</a:t>
            </a:r>
            <a:r>
              <a:rPr lang="fr-FR" sz="1400" dirty="0">
                <a:solidFill>
                  <a:srgbClr val="555555"/>
                </a:solidFill>
              </a:rPr>
              <a:t>. B </a:t>
            </a:r>
            <a:r>
              <a:rPr lang="fr-FR" sz="1400" b="1" dirty="0">
                <a:solidFill>
                  <a:srgbClr val="555555"/>
                </a:solidFill>
              </a:rPr>
              <a:t>104</a:t>
            </a:r>
            <a:r>
              <a:rPr lang="fr-FR" sz="1400" dirty="0">
                <a:solidFill>
                  <a:srgbClr val="555555"/>
                </a:solidFill>
              </a:rPr>
              <a:t>, 144103 (2021)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1818D63-37ED-29A1-A74F-6E13821D09FC}"/>
              </a:ext>
            </a:extLst>
          </p:cNvPr>
          <p:cNvSpPr txBox="1"/>
          <p:nvPr/>
        </p:nvSpPr>
        <p:spPr>
          <a:xfrm>
            <a:off x="4163548" y="1442554"/>
            <a:ext cx="386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Giovanni Marini and Matteo Calandra</a:t>
            </a:r>
          </a:p>
        </p:txBody>
      </p:sp>
      <p:pic>
        <p:nvPicPr>
          <p:cNvPr id="12" name="Image 13">
            <a:extLst>
              <a:ext uri="{FF2B5EF4-FFF2-40B4-BE49-F238E27FC236}">
                <a16:creationId xmlns:a16="http://schemas.microsoft.com/office/drawing/2014/main" id="{128C2C52-EF2E-E45F-E1AD-75D11CBB44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796" y="2060735"/>
            <a:ext cx="1739859" cy="1579530"/>
          </a:xfrm>
          <a:prstGeom prst="rect">
            <a:avLst/>
          </a:prstGeom>
        </p:spPr>
      </p:pic>
      <p:pic>
        <p:nvPicPr>
          <p:cNvPr id="13" name="Picture 2" descr="#">
            <a:extLst>
              <a:ext uri="{FF2B5EF4-FFF2-40B4-BE49-F238E27FC236}">
                <a16:creationId xmlns:a16="http://schemas.microsoft.com/office/drawing/2014/main" id="{FC5CAEEE-4AF7-CF20-2573-D6E606CD0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059" y="2175721"/>
            <a:ext cx="1770597" cy="118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62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C50513-E6DE-2D49-A4AD-C811FD5D0625}"/>
              </a:ext>
            </a:extLst>
          </p:cNvPr>
          <p:cNvSpPr txBox="1"/>
          <p:nvPr/>
        </p:nvSpPr>
        <p:spPr>
          <a:xfrm>
            <a:off x="1580645" y="60057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Constrained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Density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functional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perturbation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theory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for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insulators</a:t>
            </a:r>
            <a:endParaRPr lang="fr-FR" sz="20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D2F0995-3162-8248-9DCD-C13E7F55B834}"/>
              </a:ext>
            </a:extLst>
          </p:cNvPr>
          <p:cNvSpPr txBox="1"/>
          <p:nvPr/>
        </p:nvSpPr>
        <p:spPr>
          <a:xfrm>
            <a:off x="1095575" y="1300065"/>
            <a:ext cx="10295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0090"/>
                </a:solidFill>
              </a:rPr>
              <a:t>Complete </a:t>
            </a:r>
            <a:r>
              <a:rPr lang="fr-FR" sz="1600" dirty="0" err="1">
                <a:solidFill>
                  <a:srgbClr val="000090"/>
                </a:solidFill>
              </a:rPr>
              <a:t>cDFPT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framework</a:t>
            </a:r>
            <a:r>
              <a:rPr lang="fr-FR" sz="1600" dirty="0">
                <a:solidFill>
                  <a:srgbClr val="000090"/>
                </a:solidFill>
              </a:rPr>
              <a:t> : </a:t>
            </a:r>
            <a:r>
              <a:rPr lang="fr-FR" sz="1600" dirty="0" err="1">
                <a:solidFill>
                  <a:srgbClr val="000090"/>
                </a:solidFill>
              </a:rPr>
              <a:t>two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different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chemical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potentials</a:t>
            </a:r>
            <a:r>
              <a:rPr lang="fr-FR" sz="1600" dirty="0">
                <a:solidFill>
                  <a:srgbClr val="000090"/>
                </a:solidFill>
              </a:rPr>
              <a:t> and </a:t>
            </a:r>
            <a:r>
              <a:rPr lang="fr-FR" sz="1600" dirty="0" err="1">
                <a:solidFill>
                  <a:srgbClr val="000090"/>
                </a:solidFill>
              </a:rPr>
              <a:t>electron-hole</a:t>
            </a:r>
            <a:r>
              <a:rPr lang="fr-FR" sz="1600" dirty="0">
                <a:solidFill>
                  <a:srgbClr val="000090"/>
                </a:solidFill>
              </a:rPr>
              <a:t> plasma distribution, no </a:t>
            </a:r>
            <a:r>
              <a:rPr lang="fr-FR" sz="1600" dirty="0" err="1">
                <a:solidFill>
                  <a:srgbClr val="000090"/>
                </a:solidFill>
              </a:rPr>
              <a:t>supercells</a:t>
            </a:r>
            <a:r>
              <a:rPr lang="fr-FR" sz="1600" dirty="0">
                <a:solidFill>
                  <a:srgbClr val="000090"/>
                </a:solidFill>
              </a:rPr>
              <a:t>.  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C2DF4D6-643A-2C4F-A144-917EAB1F265E}"/>
              </a:ext>
            </a:extLst>
          </p:cNvPr>
          <p:cNvSpPr/>
          <p:nvPr/>
        </p:nvSpPr>
        <p:spPr>
          <a:xfrm>
            <a:off x="721059" y="1436131"/>
            <a:ext cx="97200" cy="97200"/>
          </a:xfrm>
          <a:prstGeom prst="ellipse">
            <a:avLst/>
          </a:prstGeom>
          <a:solidFill>
            <a:srgbClr val="751408"/>
          </a:solidFill>
          <a:ln>
            <a:solidFill>
              <a:srgbClr val="751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96F8DE9-75E4-104B-B906-903B51012DF2}"/>
              </a:ext>
            </a:extLst>
          </p:cNvPr>
          <p:cNvSpPr txBox="1"/>
          <p:nvPr/>
        </p:nvSpPr>
        <p:spPr>
          <a:xfrm>
            <a:off x="1218264" y="3998988"/>
            <a:ext cx="8177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0090"/>
                </a:solidFill>
              </a:rPr>
              <a:t>Complete structural </a:t>
            </a:r>
            <a:r>
              <a:rPr lang="fr-FR" sz="1600" dirty="0" err="1">
                <a:solidFill>
                  <a:srgbClr val="000090"/>
                </a:solidFill>
              </a:rPr>
              <a:t>optimization</a:t>
            </a:r>
            <a:r>
              <a:rPr lang="fr-FR" sz="1600" dirty="0">
                <a:solidFill>
                  <a:srgbClr val="000090"/>
                </a:solidFill>
              </a:rPr>
              <a:t> (forces/</a:t>
            </a:r>
            <a:r>
              <a:rPr lang="fr-FR" sz="1600" dirty="0" err="1">
                <a:solidFill>
                  <a:srgbClr val="000090"/>
                </a:solidFill>
              </a:rPr>
              <a:t>cell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optimization</a:t>
            </a:r>
            <a:r>
              <a:rPr lang="fr-FR" sz="1600" dirty="0">
                <a:solidFill>
                  <a:srgbClr val="000090"/>
                </a:solidFill>
              </a:rPr>
              <a:t>).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20C484B-FB0F-A744-BD06-31478215841C}"/>
              </a:ext>
            </a:extLst>
          </p:cNvPr>
          <p:cNvSpPr/>
          <p:nvPr/>
        </p:nvSpPr>
        <p:spPr>
          <a:xfrm>
            <a:off x="725460" y="4115595"/>
            <a:ext cx="97200" cy="97200"/>
          </a:xfrm>
          <a:prstGeom prst="ellipse">
            <a:avLst/>
          </a:prstGeom>
          <a:solidFill>
            <a:srgbClr val="751408"/>
          </a:solidFill>
          <a:ln>
            <a:solidFill>
              <a:srgbClr val="751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8C71568-2B82-2A47-AB8A-6DC8688CDA84}"/>
              </a:ext>
            </a:extLst>
          </p:cNvPr>
          <p:cNvSpPr txBox="1"/>
          <p:nvPr/>
        </p:nvSpPr>
        <p:spPr>
          <a:xfrm>
            <a:off x="1218264" y="4521919"/>
            <a:ext cx="8177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0090"/>
                </a:solidFill>
              </a:rPr>
              <a:t>Vibrational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properties</a:t>
            </a:r>
            <a:r>
              <a:rPr lang="fr-FR" sz="1600" dirty="0">
                <a:solidFill>
                  <a:srgbClr val="000090"/>
                </a:solidFill>
              </a:rPr>
              <a:t> (phonon dispersion)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3BB040E-D708-A945-A47D-6F7F2D4446D8}"/>
              </a:ext>
            </a:extLst>
          </p:cNvPr>
          <p:cNvSpPr/>
          <p:nvPr/>
        </p:nvSpPr>
        <p:spPr>
          <a:xfrm>
            <a:off x="721059" y="4626907"/>
            <a:ext cx="97200" cy="97200"/>
          </a:xfrm>
          <a:prstGeom prst="ellipse">
            <a:avLst/>
          </a:prstGeom>
          <a:solidFill>
            <a:srgbClr val="751408"/>
          </a:solidFill>
          <a:ln>
            <a:solidFill>
              <a:srgbClr val="751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067814D-0719-5A4F-822D-0F7F4976DB90}"/>
              </a:ext>
            </a:extLst>
          </p:cNvPr>
          <p:cNvSpPr txBox="1"/>
          <p:nvPr/>
        </p:nvSpPr>
        <p:spPr>
          <a:xfrm>
            <a:off x="1218264" y="5021267"/>
            <a:ext cx="8177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0090"/>
                </a:solidFill>
              </a:rPr>
              <a:t>Electron-phonon interaction (</a:t>
            </a:r>
            <a:r>
              <a:rPr lang="fr-FR" sz="1600" dirty="0" err="1">
                <a:solidFill>
                  <a:srgbClr val="000090"/>
                </a:solidFill>
              </a:rPr>
              <a:t>including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photocarriers-photocarriers</a:t>
            </a:r>
            <a:r>
              <a:rPr lang="fr-FR" sz="1600" dirty="0">
                <a:solidFill>
                  <a:srgbClr val="000090"/>
                </a:solidFill>
              </a:rPr>
              <a:t> screening)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A1059DD-5854-A94B-B331-9C9CC6FBE761}"/>
              </a:ext>
            </a:extLst>
          </p:cNvPr>
          <p:cNvSpPr/>
          <p:nvPr/>
        </p:nvSpPr>
        <p:spPr>
          <a:xfrm>
            <a:off x="721059" y="5146112"/>
            <a:ext cx="97200" cy="97200"/>
          </a:xfrm>
          <a:prstGeom prst="ellipse">
            <a:avLst/>
          </a:prstGeom>
          <a:solidFill>
            <a:srgbClr val="751408"/>
          </a:solidFill>
          <a:ln>
            <a:solidFill>
              <a:srgbClr val="751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CBF41CB-03B2-1647-BF13-C8C24DC60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483" y="1773395"/>
            <a:ext cx="2095907" cy="190276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2FFDA72-7AAF-E44B-925D-41F6867F27F5}"/>
              </a:ext>
            </a:extLst>
          </p:cNvPr>
          <p:cNvSpPr/>
          <p:nvPr/>
        </p:nvSpPr>
        <p:spPr>
          <a:xfrm>
            <a:off x="2073483" y="1794223"/>
            <a:ext cx="138615" cy="13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6CA6FD-FA02-9746-8F33-E6C027B2BBD3}"/>
              </a:ext>
            </a:extLst>
          </p:cNvPr>
          <p:cNvSpPr/>
          <p:nvPr/>
        </p:nvSpPr>
        <p:spPr>
          <a:xfrm>
            <a:off x="3221203" y="1774324"/>
            <a:ext cx="138615" cy="13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DCE52AF-0850-2940-99C2-20A26F2C11A7}"/>
              </a:ext>
            </a:extLst>
          </p:cNvPr>
          <p:cNvSpPr txBox="1"/>
          <p:nvPr/>
        </p:nvSpPr>
        <p:spPr>
          <a:xfrm>
            <a:off x="5419928" y="2426470"/>
            <a:ext cx="4952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S. De </a:t>
            </a:r>
            <a:r>
              <a:rPr lang="fr-FR" sz="1200" dirty="0" err="1"/>
              <a:t>Gironcoli</a:t>
            </a:r>
            <a:r>
              <a:rPr lang="fr-FR" sz="1200" dirty="0"/>
              <a:t>, Phys. </a:t>
            </a:r>
            <a:r>
              <a:rPr lang="fr-FR" sz="1200" dirty="0" err="1"/>
              <a:t>Rev</a:t>
            </a:r>
            <a:r>
              <a:rPr lang="fr-FR" sz="1200" dirty="0"/>
              <a:t>. B 51, 6773(R) (1995)</a:t>
            </a:r>
          </a:p>
          <a:p>
            <a:r>
              <a:rPr lang="fr-FR" sz="1200" dirty="0" err="1"/>
              <a:t>Tangney</a:t>
            </a:r>
            <a:r>
              <a:rPr lang="fr-FR" sz="1200" dirty="0"/>
              <a:t> &amp; Fahy, PRL </a:t>
            </a:r>
            <a:r>
              <a:rPr lang="fr-FR" sz="1200" b="1" dirty="0"/>
              <a:t>82</a:t>
            </a:r>
            <a:r>
              <a:rPr lang="fr-FR" sz="1200" dirty="0"/>
              <a:t>, 4340 (1999), PRB Phys. </a:t>
            </a:r>
            <a:r>
              <a:rPr lang="fr-FR" sz="1200" dirty="0" err="1"/>
              <a:t>Rev</a:t>
            </a:r>
            <a:r>
              <a:rPr lang="fr-FR" sz="1200" dirty="0"/>
              <a:t>. B </a:t>
            </a:r>
            <a:r>
              <a:rPr lang="fr-FR" sz="1200" b="1" dirty="0"/>
              <a:t>65</a:t>
            </a:r>
            <a:r>
              <a:rPr lang="fr-FR" sz="1200" dirty="0"/>
              <a:t>, 054302 (2002)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404B21E-988F-6A43-8CBB-82F11E250CA7}"/>
              </a:ext>
            </a:extLst>
          </p:cNvPr>
          <p:cNvSpPr txBox="1"/>
          <p:nvPr/>
        </p:nvSpPr>
        <p:spPr>
          <a:xfrm>
            <a:off x="5419927" y="2034752"/>
            <a:ext cx="8177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0090"/>
                </a:solidFill>
              </a:rPr>
              <a:t>We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build</a:t>
            </a:r>
            <a:r>
              <a:rPr lang="fr-FR" sz="1600" dirty="0">
                <a:solidFill>
                  <a:srgbClr val="000090"/>
                </a:solidFill>
              </a:rPr>
              <a:t> on top of </a:t>
            </a:r>
            <a:r>
              <a:rPr lang="fr-FR" sz="1600" dirty="0" err="1">
                <a:solidFill>
                  <a:srgbClr val="000090"/>
                </a:solidFill>
              </a:rPr>
              <a:t>Refs</a:t>
            </a:r>
            <a:r>
              <a:rPr lang="fr-FR" sz="1600" dirty="0">
                <a:solidFill>
                  <a:srgbClr val="000090"/>
                </a:solidFill>
              </a:rPr>
              <a:t>.: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24A2A8-04F0-9B41-9051-69FC2094072D}"/>
              </a:ext>
            </a:extLst>
          </p:cNvPr>
          <p:cNvSpPr/>
          <p:nvPr/>
        </p:nvSpPr>
        <p:spPr>
          <a:xfrm>
            <a:off x="5306861" y="950645"/>
            <a:ext cx="62066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555555"/>
                </a:solidFill>
              </a:rPr>
              <a:t>Giovanni Marini and Matteo Calandra,   Phys. </a:t>
            </a:r>
            <a:r>
              <a:rPr lang="fr-FR" sz="1400" dirty="0" err="1">
                <a:solidFill>
                  <a:srgbClr val="555555"/>
                </a:solidFill>
              </a:rPr>
              <a:t>Rev</a:t>
            </a:r>
            <a:r>
              <a:rPr lang="fr-FR" sz="1400" dirty="0">
                <a:solidFill>
                  <a:srgbClr val="555555"/>
                </a:solidFill>
              </a:rPr>
              <a:t>. B </a:t>
            </a:r>
            <a:r>
              <a:rPr lang="fr-FR" sz="1400" b="1" dirty="0">
                <a:solidFill>
                  <a:srgbClr val="555555"/>
                </a:solidFill>
              </a:rPr>
              <a:t>104</a:t>
            </a:r>
            <a:r>
              <a:rPr lang="fr-FR" sz="1400" dirty="0">
                <a:solidFill>
                  <a:srgbClr val="555555"/>
                </a:solidFill>
              </a:rPr>
              <a:t>, 144103 (2021)</a:t>
            </a:r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A1255ABE-FE8E-86EF-64A4-7BA5C6AFBCB6}"/>
              </a:ext>
            </a:extLst>
          </p:cNvPr>
          <p:cNvSpPr txBox="1"/>
          <p:nvPr/>
        </p:nvSpPr>
        <p:spPr>
          <a:xfrm>
            <a:off x="1564735" y="617959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FF0000"/>
                </a:solidFill>
                <a:latin typeface="Tahoma"/>
                <a:cs typeface="Tahoma"/>
              </a:rPr>
              <a:t>How </a:t>
            </a:r>
            <a:r>
              <a:rPr lang="fr-FR" sz="2000" dirty="0" err="1">
                <a:solidFill>
                  <a:srgbClr val="FF0000"/>
                </a:solidFill>
                <a:latin typeface="Tahoma"/>
                <a:cs typeface="Tahoma"/>
              </a:rPr>
              <a:t>does</a:t>
            </a:r>
            <a:r>
              <a:rPr lang="fr-FR" sz="2000" dirty="0">
                <a:solidFill>
                  <a:srgbClr val="FF0000"/>
                </a:solidFill>
                <a:latin typeface="Tahoma"/>
                <a:cs typeface="Tahoma"/>
              </a:rPr>
              <a:t> all </a:t>
            </a:r>
            <a:r>
              <a:rPr lang="fr-FR" sz="2000" dirty="0" err="1">
                <a:solidFill>
                  <a:srgbClr val="FF0000"/>
                </a:solidFill>
                <a:latin typeface="Tahoma"/>
                <a:cs typeface="Tahoma"/>
              </a:rPr>
              <a:t>this</a:t>
            </a:r>
            <a:r>
              <a:rPr lang="fr-FR" sz="20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fr-FR" sz="2000" dirty="0" err="1">
                <a:solidFill>
                  <a:srgbClr val="FF0000"/>
                </a:solidFill>
                <a:latin typeface="Tahoma"/>
                <a:cs typeface="Tahoma"/>
              </a:rPr>
              <a:t>framework</a:t>
            </a:r>
            <a:r>
              <a:rPr lang="fr-FR" sz="20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fr-FR" sz="2000" dirty="0" err="1">
                <a:solidFill>
                  <a:srgbClr val="FF0000"/>
                </a:solidFill>
                <a:latin typeface="Tahoma"/>
                <a:cs typeface="Tahoma"/>
              </a:rPr>
              <a:t>works</a:t>
            </a:r>
            <a:r>
              <a:rPr lang="fr-FR" sz="2000" dirty="0">
                <a:solidFill>
                  <a:srgbClr val="FF0000"/>
                </a:solidFill>
                <a:latin typeface="Tahoma"/>
                <a:cs typeface="Tahoma"/>
              </a:rPr>
              <a:t> 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CB213C-FC7B-B6F5-DD83-A87738CE6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138" y="2839356"/>
            <a:ext cx="2199257" cy="105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0">
            <a:extLst>
              <a:ext uri="{FF2B5EF4-FFF2-40B4-BE49-F238E27FC236}">
                <a16:creationId xmlns:a16="http://schemas.microsoft.com/office/drawing/2014/main" id="{98ACDD13-E799-8278-0202-5A112A14551C}"/>
              </a:ext>
            </a:extLst>
          </p:cNvPr>
          <p:cNvSpPr txBox="1"/>
          <p:nvPr/>
        </p:nvSpPr>
        <p:spPr>
          <a:xfrm>
            <a:off x="1218264" y="5555435"/>
            <a:ext cx="8177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0090"/>
                </a:solidFill>
              </a:rPr>
              <a:t>Coupling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with</a:t>
            </a:r>
            <a:r>
              <a:rPr lang="fr-FR" sz="1600" dirty="0">
                <a:solidFill>
                  <a:srgbClr val="000090"/>
                </a:solidFill>
              </a:rPr>
              <a:t> SSCHA, Machine-</a:t>
            </a:r>
            <a:r>
              <a:rPr lang="fr-FR" sz="1600" dirty="0" err="1">
                <a:solidFill>
                  <a:srgbClr val="000090"/>
                </a:solidFill>
              </a:rPr>
              <a:t>learning</a:t>
            </a:r>
            <a:r>
              <a:rPr lang="fr-FR" sz="1600" dirty="0">
                <a:solidFill>
                  <a:srgbClr val="000090"/>
                </a:solidFill>
              </a:rPr>
              <a:t> </a:t>
            </a:r>
            <a:r>
              <a:rPr lang="fr-FR" sz="1600" dirty="0" err="1">
                <a:solidFill>
                  <a:srgbClr val="000090"/>
                </a:solidFill>
              </a:rPr>
              <a:t>based</a:t>
            </a:r>
            <a:r>
              <a:rPr lang="fr-FR" sz="1600" dirty="0">
                <a:solidFill>
                  <a:srgbClr val="000090"/>
                </a:solidFill>
              </a:rPr>
              <a:t> MD, </a:t>
            </a:r>
            <a:r>
              <a:rPr lang="fr-FR" sz="1600" i="1" dirty="0">
                <a:solidFill>
                  <a:srgbClr val="000090"/>
                </a:solidFill>
              </a:rPr>
              <a:t>ab initio </a:t>
            </a:r>
            <a:r>
              <a:rPr lang="fr-FR" sz="1600" dirty="0">
                <a:solidFill>
                  <a:srgbClr val="000090"/>
                </a:solidFill>
              </a:rPr>
              <a:t>BOMD</a:t>
            </a:r>
            <a:r>
              <a:rPr lang="fr-FR" sz="1600" i="1" dirty="0">
                <a:solidFill>
                  <a:srgbClr val="000090"/>
                </a:solidFill>
              </a:rPr>
              <a:t>, </a:t>
            </a:r>
            <a:r>
              <a:rPr lang="fr-FR" sz="1600" dirty="0">
                <a:solidFill>
                  <a:srgbClr val="000090"/>
                </a:solidFill>
              </a:rPr>
              <a:t>CPMD</a:t>
            </a:r>
          </a:p>
        </p:txBody>
      </p:sp>
      <p:sp>
        <p:nvSpPr>
          <p:cNvPr id="17" name="Ellipse 11">
            <a:extLst>
              <a:ext uri="{FF2B5EF4-FFF2-40B4-BE49-F238E27FC236}">
                <a16:creationId xmlns:a16="http://schemas.microsoft.com/office/drawing/2014/main" id="{EA452F44-2292-5DA0-0080-9608FB6A21FB}"/>
              </a:ext>
            </a:extLst>
          </p:cNvPr>
          <p:cNvSpPr/>
          <p:nvPr/>
        </p:nvSpPr>
        <p:spPr>
          <a:xfrm>
            <a:off x="721059" y="5680280"/>
            <a:ext cx="97200" cy="97200"/>
          </a:xfrm>
          <a:prstGeom prst="ellipse">
            <a:avLst/>
          </a:prstGeom>
          <a:solidFill>
            <a:srgbClr val="751408"/>
          </a:solidFill>
          <a:ln>
            <a:solidFill>
              <a:srgbClr val="751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48">
            <a:extLst>
              <a:ext uri="{FF2B5EF4-FFF2-40B4-BE49-F238E27FC236}">
                <a16:creationId xmlns:a16="http://schemas.microsoft.com/office/drawing/2014/main" id="{9D48C472-4035-BF3E-F181-CD8473068B30}"/>
              </a:ext>
            </a:extLst>
          </p:cNvPr>
          <p:cNvSpPr txBox="1"/>
          <p:nvPr/>
        </p:nvSpPr>
        <p:spPr>
          <a:xfrm>
            <a:off x="428561" y="108564"/>
            <a:ext cx="113348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100" dirty="0">
                <a:solidFill>
                  <a:srgbClr val="C00000"/>
                </a:solidFill>
                <a:latin typeface="Tahoma"/>
                <a:cs typeface="Tahoma"/>
              </a:rPr>
              <a:t>How to </a:t>
            </a:r>
            <a:r>
              <a:rPr lang="fr-FR" sz="2100" dirty="0" err="1">
                <a:solidFill>
                  <a:srgbClr val="C00000"/>
                </a:solidFill>
                <a:latin typeface="Tahoma"/>
                <a:cs typeface="Tahoma"/>
              </a:rPr>
              <a:t>efficiently</a:t>
            </a:r>
            <a:r>
              <a:rPr lang="fr-FR" sz="21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fr-FR" sz="2100" dirty="0" err="1">
                <a:solidFill>
                  <a:srgbClr val="C00000"/>
                </a:solidFill>
                <a:latin typeface="Tahoma"/>
                <a:cs typeface="Tahoma"/>
              </a:rPr>
              <a:t>simulate</a:t>
            </a:r>
            <a:r>
              <a:rPr lang="fr-FR" sz="2100" dirty="0">
                <a:solidFill>
                  <a:srgbClr val="C00000"/>
                </a:solidFill>
                <a:latin typeface="Tahoma"/>
                <a:cs typeface="Tahoma"/>
              </a:rPr>
              <a:t> phonon and structural </a:t>
            </a:r>
            <a:r>
              <a:rPr lang="fr-FR" sz="2100" dirty="0" err="1">
                <a:solidFill>
                  <a:srgbClr val="C00000"/>
                </a:solidFill>
                <a:latin typeface="Tahoma"/>
                <a:cs typeface="Tahoma"/>
              </a:rPr>
              <a:t>dynamics</a:t>
            </a:r>
            <a:r>
              <a:rPr lang="fr-FR" sz="2100" dirty="0">
                <a:solidFill>
                  <a:srgbClr val="C00000"/>
                </a:solidFill>
                <a:latin typeface="Tahoma"/>
                <a:cs typeface="Tahoma"/>
              </a:rPr>
              <a:t> at </a:t>
            </a:r>
            <a:r>
              <a:rPr lang="fr-FR" sz="2100" dirty="0" err="1">
                <a:solidFill>
                  <a:srgbClr val="C00000"/>
                </a:solidFill>
                <a:latin typeface="Tahoma"/>
                <a:cs typeface="Tahoma"/>
              </a:rPr>
              <a:t>very</a:t>
            </a:r>
            <a:r>
              <a:rPr lang="fr-FR" sz="2100" dirty="0">
                <a:solidFill>
                  <a:srgbClr val="C00000"/>
                </a:solidFill>
                <a:latin typeface="Tahoma"/>
                <a:cs typeface="Tahoma"/>
              </a:rPr>
              <a:t> long times ?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091F96D-9AE8-5144-F447-4D71AF2153DF}"/>
              </a:ext>
            </a:extLst>
          </p:cNvPr>
          <p:cNvSpPr txBox="1"/>
          <p:nvPr/>
        </p:nvSpPr>
        <p:spPr>
          <a:xfrm>
            <a:off x="7824645" y="5496600"/>
            <a:ext cx="4106888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333" dirty="0">
                <a:solidFill>
                  <a:srgbClr val="7030A0"/>
                </a:solidFill>
              </a:rPr>
              <a:t>A. Corradini, G. Marini and M.C., </a:t>
            </a:r>
            <a:r>
              <a:rPr lang="it-IT" sz="1333" dirty="0" err="1">
                <a:solidFill>
                  <a:srgbClr val="7030A0"/>
                </a:solidFill>
              </a:rPr>
              <a:t>npj</a:t>
            </a:r>
            <a:r>
              <a:rPr lang="it-IT" sz="1333" dirty="0">
                <a:solidFill>
                  <a:srgbClr val="7030A0"/>
                </a:solidFill>
              </a:rPr>
              <a:t> </a:t>
            </a:r>
            <a:r>
              <a:rPr lang="it-IT" sz="1333" dirty="0" err="1">
                <a:solidFill>
                  <a:srgbClr val="7030A0"/>
                </a:solidFill>
              </a:rPr>
              <a:t>Computational</a:t>
            </a:r>
            <a:r>
              <a:rPr lang="it-IT" sz="1333" dirty="0">
                <a:solidFill>
                  <a:srgbClr val="7030A0"/>
                </a:solidFill>
              </a:rPr>
              <a:t> </a:t>
            </a:r>
            <a:r>
              <a:rPr lang="it-IT" sz="1333" dirty="0" err="1">
                <a:solidFill>
                  <a:srgbClr val="7030A0"/>
                </a:solidFill>
              </a:rPr>
              <a:t>Materials</a:t>
            </a:r>
            <a:r>
              <a:rPr lang="it-IT" sz="1333" dirty="0">
                <a:solidFill>
                  <a:srgbClr val="7030A0"/>
                </a:solidFill>
              </a:rPr>
              <a:t> 11, 151 (2025) </a:t>
            </a:r>
          </a:p>
        </p:txBody>
      </p:sp>
    </p:spTree>
    <p:extLst>
      <p:ext uri="{BB962C8B-B14F-4D97-AF65-F5344CB8AC3E}">
        <p14:creationId xmlns:p14="http://schemas.microsoft.com/office/powerpoint/2010/main" val="157065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4372E1A-90E1-4230-96C0-E7B1D750E50F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Ground state Silicon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34A462-937D-4FF0-9578-6FDFE2464D79}"/>
              </a:ext>
            </a:extLst>
          </p:cNvPr>
          <p:cNvSpPr txBox="1"/>
          <p:nvPr/>
        </p:nvSpPr>
        <p:spPr>
          <a:xfrm>
            <a:off x="990580" y="1355712"/>
            <a:ext cx="30461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&amp;control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calculation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'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vc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-relax'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tprnfor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tstress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pseudo_dir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='../Pseudo/',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&amp;system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ibrav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celldm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 =10.20,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ntyp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=1,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ecutwfc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=30.0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occupations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fixed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",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ions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ATOMIC_SPECIES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  28.086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Si.pz-vbc.UPF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{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0.00 0.00 0.00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0.25 0.25 0.25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K_POINTS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automatic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4 4 4 1 1 1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A2FFAC-A55D-7B10-D1DB-EF822159AAF5}"/>
              </a:ext>
            </a:extLst>
          </p:cNvPr>
          <p:cNvSpPr txBox="1"/>
          <p:nvPr/>
        </p:nvSpPr>
        <p:spPr>
          <a:xfrm>
            <a:off x="613318" y="776540"/>
            <a:ext cx="310373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PW_Si_GS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vc-relax.in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026" name="Picture 2" descr="Silicon &amp; Germanium Crystal Structure – PhysicsOpenLab">
            <a:extLst>
              <a:ext uri="{FF2B5EF4-FFF2-40B4-BE49-F238E27FC236}">
                <a16:creationId xmlns:a16="http://schemas.microsoft.com/office/drawing/2014/main" id="{4AC1FB7B-EAB0-F2AA-A5E8-385229C8D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411" y="432637"/>
            <a:ext cx="1472271" cy="144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4912226-E8D5-5AC8-0CFC-18F37193844A}"/>
              </a:ext>
            </a:extLst>
          </p:cNvPr>
          <p:cNvCxnSpPr/>
          <p:nvPr/>
        </p:nvCxnSpPr>
        <p:spPr>
          <a:xfrm>
            <a:off x="3824868" y="5029200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9D30C13-6C9B-0613-8ABA-C0F6CFCD9788}"/>
              </a:ext>
            </a:extLst>
          </p:cNvPr>
          <p:cNvSpPr txBox="1"/>
          <p:nvPr/>
        </p:nvSpPr>
        <p:spPr>
          <a:xfrm>
            <a:off x="4414003" y="4875311"/>
            <a:ext cx="1993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Perdew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Zunger</a:t>
            </a:r>
            <a:r>
              <a:rPr lang="it-IT" sz="1400" dirty="0">
                <a:solidFill>
                  <a:srgbClr val="C00000"/>
                </a:solidFill>
              </a:rPr>
              <a:t> xc (LDA)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7DEB5D3-5C8E-8BB2-EB68-6AA7256CB79C}"/>
              </a:ext>
            </a:extLst>
          </p:cNvPr>
          <p:cNvCxnSpPr/>
          <p:nvPr/>
        </p:nvCxnSpPr>
        <p:spPr>
          <a:xfrm>
            <a:off x="3780263" y="3429000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5912D98-D041-3CE1-C130-280D59D9B5ED}"/>
              </a:ext>
            </a:extLst>
          </p:cNvPr>
          <p:cNvSpPr txBox="1"/>
          <p:nvPr/>
        </p:nvSpPr>
        <p:spPr>
          <a:xfrm>
            <a:off x="4414003" y="3275111"/>
            <a:ext cx="4042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Fixed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occupation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as</a:t>
            </a:r>
            <a:r>
              <a:rPr lang="it-IT" sz="1400" dirty="0">
                <a:solidFill>
                  <a:srgbClr val="C00000"/>
                </a:solidFill>
              </a:rPr>
              <a:t> the ground state </a:t>
            </a:r>
            <a:r>
              <a:rPr lang="it-IT" sz="1400" dirty="0" err="1">
                <a:solidFill>
                  <a:srgbClr val="C00000"/>
                </a:solidFill>
              </a:rPr>
              <a:t>is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insulating</a:t>
            </a:r>
            <a:r>
              <a:rPr lang="it-IT" sz="1400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8333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8B3B-99BB-C2DA-319E-9AA1DD6D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1103DF6-48C3-062E-CFCC-0C6915BC96B2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Ground state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D72FFB9-B06C-6477-4E3F-41F79F055066}"/>
              </a:ext>
            </a:extLst>
          </p:cNvPr>
          <p:cNvSpPr txBox="1"/>
          <p:nvPr/>
        </p:nvSpPr>
        <p:spPr>
          <a:xfrm>
            <a:off x="613318" y="776540"/>
            <a:ext cx="301396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PW_Si_GS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vc-relax.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026" name="Picture 2" descr="Silicon &amp; Germanium Crystal Structure – PhysicsOpenLab">
            <a:extLst>
              <a:ext uri="{FF2B5EF4-FFF2-40B4-BE49-F238E27FC236}">
                <a16:creationId xmlns:a16="http://schemas.microsoft.com/office/drawing/2014/main" id="{F852C9B9-AF59-0ED9-0294-DAD01A022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411" y="432637"/>
            <a:ext cx="1472271" cy="144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B68FF7F-57EF-C168-DE07-0BCBB88AEB70}"/>
              </a:ext>
            </a:extLst>
          </p:cNvPr>
          <p:cNvSpPr txBox="1"/>
          <p:nvPr/>
        </p:nvSpPr>
        <p:spPr>
          <a:xfrm>
            <a:off x="4644420" y="2959513"/>
            <a:ext cx="617893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This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is</a:t>
            </a:r>
            <a:r>
              <a:rPr lang="it-IT" sz="1400" dirty="0">
                <a:solidFill>
                  <a:srgbClr val="C00000"/>
                </a:solidFill>
              </a:rPr>
              <a:t> the </a:t>
            </a:r>
            <a:r>
              <a:rPr lang="it-IT" sz="1400" dirty="0" err="1">
                <a:solidFill>
                  <a:srgbClr val="C00000"/>
                </a:solidFill>
              </a:rPr>
              <a:t>number</a:t>
            </a:r>
            <a:r>
              <a:rPr lang="it-IT" sz="1400" dirty="0">
                <a:solidFill>
                  <a:srgbClr val="C00000"/>
                </a:solidFill>
              </a:rPr>
              <a:t> of </a:t>
            </a:r>
            <a:r>
              <a:rPr lang="it-IT" sz="1400" dirty="0" err="1">
                <a:solidFill>
                  <a:srgbClr val="C00000"/>
                </a:solidFill>
              </a:rPr>
              <a:t>valence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r>
              <a:rPr lang="it-IT" sz="1400" dirty="0">
                <a:solidFill>
                  <a:srgbClr val="C00000"/>
                </a:solidFill>
              </a:rPr>
              <a:t>.</a:t>
            </a:r>
          </a:p>
          <a:p>
            <a:r>
              <a:rPr lang="it-IT" sz="1400" dirty="0" err="1">
                <a:solidFill>
                  <a:srgbClr val="C00000"/>
                </a:solidFill>
              </a:rPr>
              <a:t>As</a:t>
            </a:r>
            <a:r>
              <a:rPr lang="it-IT" sz="1400" dirty="0">
                <a:solidFill>
                  <a:srgbClr val="C00000"/>
                </a:solidFill>
              </a:rPr>
              <a:t> the </a:t>
            </a:r>
            <a:r>
              <a:rPr lang="it-IT" sz="1400" dirty="0" err="1">
                <a:solidFill>
                  <a:srgbClr val="C00000"/>
                </a:solidFill>
              </a:rPr>
              <a:t>sistem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is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insulating</a:t>
            </a:r>
            <a:r>
              <a:rPr lang="it-IT" sz="1400" dirty="0">
                <a:solidFill>
                  <a:srgbClr val="C00000"/>
                </a:solidFill>
              </a:rPr>
              <a:t>/</a:t>
            </a:r>
            <a:r>
              <a:rPr lang="it-IT" sz="1400" dirty="0" err="1">
                <a:solidFill>
                  <a:srgbClr val="C00000"/>
                </a:solidFill>
              </a:rPr>
              <a:t>semiconducting</a:t>
            </a:r>
            <a:r>
              <a:rPr lang="it-IT" sz="1400" dirty="0">
                <a:solidFill>
                  <a:srgbClr val="C00000"/>
                </a:solidFill>
              </a:rPr>
              <a:t>, no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r>
              <a:rPr lang="it-IT" sz="1400" dirty="0">
                <a:solidFill>
                  <a:srgbClr val="C00000"/>
                </a:solidFill>
              </a:rPr>
              <a:t> are </a:t>
            </a:r>
            <a:r>
              <a:rPr lang="it-IT" sz="1400" dirty="0" err="1">
                <a:solidFill>
                  <a:srgbClr val="C00000"/>
                </a:solidFill>
              </a:rPr>
              <a:t>needed</a:t>
            </a:r>
            <a:r>
              <a:rPr lang="it-IT" sz="1400" dirty="0">
                <a:solidFill>
                  <a:srgbClr val="C00000"/>
                </a:solidFill>
              </a:rPr>
              <a:t>.</a:t>
            </a:r>
          </a:p>
          <a:p>
            <a:endParaRPr lang="it-IT" sz="1400" dirty="0">
              <a:solidFill>
                <a:srgbClr val="C00000"/>
              </a:solidFill>
            </a:endParaRPr>
          </a:p>
          <a:p>
            <a:r>
              <a:rPr lang="it-IT" sz="1400" dirty="0">
                <a:solidFill>
                  <a:srgbClr val="C00000"/>
                </a:solidFill>
              </a:rPr>
              <a:t>[</a:t>
            </a:r>
            <a:r>
              <a:rPr lang="it-IT" sz="1400" dirty="0">
                <a:solidFill>
                  <a:srgbClr val="002060"/>
                </a:solidFill>
              </a:rPr>
              <a:t>Si]=[Ne] 3s</a:t>
            </a:r>
            <a:r>
              <a:rPr lang="it-IT" sz="1400" baseline="30000" dirty="0">
                <a:solidFill>
                  <a:srgbClr val="002060"/>
                </a:solidFill>
              </a:rPr>
              <a:t>2</a:t>
            </a:r>
            <a:r>
              <a:rPr lang="it-IT" sz="1400" dirty="0">
                <a:solidFill>
                  <a:srgbClr val="002060"/>
                </a:solidFill>
              </a:rPr>
              <a:t> 3p</a:t>
            </a:r>
            <a:r>
              <a:rPr lang="it-IT" sz="1400" baseline="30000" dirty="0">
                <a:solidFill>
                  <a:srgbClr val="002060"/>
                </a:solidFill>
              </a:rPr>
              <a:t>2</a:t>
            </a:r>
            <a:r>
              <a:rPr lang="it-IT" sz="1400" dirty="0">
                <a:solidFill>
                  <a:srgbClr val="002060"/>
                </a:solidFill>
              </a:rPr>
              <a:t> </a:t>
            </a:r>
            <a:r>
              <a:rPr lang="it-IT" sz="1400" dirty="0" err="1">
                <a:solidFill>
                  <a:srgbClr val="002060"/>
                </a:solidFill>
              </a:rPr>
              <a:t>has</a:t>
            </a:r>
            <a:r>
              <a:rPr lang="it-IT" sz="1400" dirty="0">
                <a:solidFill>
                  <a:srgbClr val="002060"/>
                </a:solidFill>
              </a:rPr>
              <a:t> 4 </a:t>
            </a:r>
            <a:r>
              <a:rPr lang="it-IT" sz="1400" dirty="0" err="1">
                <a:solidFill>
                  <a:srgbClr val="002060"/>
                </a:solidFill>
              </a:rPr>
              <a:t>electrons</a:t>
            </a:r>
            <a:r>
              <a:rPr lang="it-IT" sz="1400" dirty="0">
                <a:solidFill>
                  <a:srgbClr val="002060"/>
                </a:solidFill>
              </a:rPr>
              <a:t> in </a:t>
            </a:r>
            <a:r>
              <a:rPr lang="it-IT" sz="1400" dirty="0" err="1">
                <a:solidFill>
                  <a:srgbClr val="002060"/>
                </a:solidFill>
              </a:rPr>
              <a:t>valence</a:t>
            </a:r>
            <a:r>
              <a:rPr lang="it-IT" sz="1400" dirty="0">
                <a:solidFill>
                  <a:srgbClr val="002060"/>
                </a:solidFill>
              </a:rPr>
              <a:t>, </a:t>
            </a:r>
            <a:r>
              <a:rPr lang="it-IT" sz="1400" dirty="0" err="1">
                <a:solidFill>
                  <a:srgbClr val="002060"/>
                </a:solidFill>
              </a:rPr>
              <a:t>two</a:t>
            </a:r>
            <a:r>
              <a:rPr lang="it-IT" sz="1400" dirty="0">
                <a:solidFill>
                  <a:srgbClr val="002060"/>
                </a:solidFill>
              </a:rPr>
              <a:t> </a:t>
            </a:r>
            <a:r>
              <a:rPr lang="it-IT" sz="1400" dirty="0" err="1">
                <a:solidFill>
                  <a:srgbClr val="002060"/>
                </a:solidFill>
              </a:rPr>
              <a:t>atoms</a:t>
            </a:r>
            <a:r>
              <a:rPr lang="it-IT" sz="1400" dirty="0">
                <a:solidFill>
                  <a:srgbClr val="002060"/>
                </a:solidFill>
              </a:rPr>
              <a:t> per </a:t>
            </a:r>
            <a:r>
              <a:rPr lang="it-IT" sz="1400" dirty="0" err="1">
                <a:solidFill>
                  <a:srgbClr val="002060"/>
                </a:solidFill>
              </a:rPr>
              <a:t>cell</a:t>
            </a:r>
            <a:r>
              <a:rPr lang="it-IT" sz="1400" dirty="0">
                <a:solidFill>
                  <a:srgbClr val="002060"/>
                </a:solidFill>
              </a:rPr>
              <a:t>=8 </a:t>
            </a:r>
            <a:r>
              <a:rPr lang="it-IT" sz="1400" dirty="0" err="1">
                <a:solidFill>
                  <a:srgbClr val="002060"/>
                </a:solidFill>
              </a:rPr>
              <a:t>electrons</a:t>
            </a:r>
            <a:r>
              <a:rPr lang="it-IT" sz="1400" dirty="0">
                <a:solidFill>
                  <a:srgbClr val="002060"/>
                </a:solidFill>
              </a:rPr>
              <a:t>, </a:t>
            </a:r>
          </a:p>
          <a:p>
            <a:r>
              <a:rPr lang="it-IT" sz="1400" dirty="0">
                <a:solidFill>
                  <a:srgbClr val="002060"/>
                </a:solidFill>
              </a:rPr>
              <a:t>	                   4 </a:t>
            </a:r>
            <a:r>
              <a:rPr lang="it-IT" sz="1400" dirty="0" err="1">
                <a:solidFill>
                  <a:srgbClr val="002060"/>
                </a:solidFill>
              </a:rPr>
              <a:t>bands</a:t>
            </a:r>
            <a:r>
              <a:rPr lang="it-IT" sz="1400" dirty="0">
                <a:solidFill>
                  <a:srgbClr val="002060"/>
                </a:solidFill>
              </a:rPr>
              <a:t> (</a:t>
            </a:r>
            <a:r>
              <a:rPr lang="it-IT" sz="1400" dirty="0" err="1">
                <a:solidFill>
                  <a:srgbClr val="002060"/>
                </a:solidFill>
              </a:rPr>
              <a:t>two</a:t>
            </a:r>
            <a:r>
              <a:rPr lang="it-IT" sz="1400" dirty="0">
                <a:solidFill>
                  <a:srgbClr val="002060"/>
                </a:solidFill>
              </a:rPr>
              <a:t> </a:t>
            </a:r>
            <a:r>
              <a:rPr lang="it-IT" sz="1400" dirty="0" err="1">
                <a:solidFill>
                  <a:srgbClr val="002060"/>
                </a:solidFill>
              </a:rPr>
              <a:t>electrons</a:t>
            </a:r>
            <a:r>
              <a:rPr lang="it-IT" sz="1400" dirty="0">
                <a:solidFill>
                  <a:srgbClr val="002060"/>
                </a:solidFill>
              </a:rPr>
              <a:t> per band).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0B02D11-57E5-2817-D3E3-52C904AF4B90}"/>
              </a:ext>
            </a:extLst>
          </p:cNvPr>
          <p:cNvSpPr txBox="1"/>
          <p:nvPr/>
        </p:nvSpPr>
        <p:spPr>
          <a:xfrm>
            <a:off x="775387" y="1175529"/>
            <a:ext cx="85296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bravais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-lattice index     =            2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lattice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parameter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 =      10.2000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a.u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unit-cell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volume          =     265.3020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a.u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.)^3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=            2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=            1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    =         8.00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Kohn-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Sham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            4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AE65C30-7E50-A382-E5E4-449D06A78027}"/>
              </a:ext>
            </a:extLst>
          </p:cNvPr>
          <p:cNvSpPr/>
          <p:nvPr/>
        </p:nvSpPr>
        <p:spPr>
          <a:xfrm>
            <a:off x="1000897" y="2335427"/>
            <a:ext cx="4868562" cy="225097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840A640-D000-715D-5360-54336620605C}"/>
              </a:ext>
            </a:extLst>
          </p:cNvPr>
          <p:cNvSpPr txBox="1"/>
          <p:nvPr/>
        </p:nvSpPr>
        <p:spPr>
          <a:xfrm>
            <a:off x="1000897" y="2560524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66896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9045-4872-89B7-D086-F74766F2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40095FF-3780-458C-6742-7F0B8164DAB6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AB00D96-9969-ADEF-551E-5E8746DBD41F}"/>
              </a:ext>
            </a:extLst>
          </p:cNvPr>
          <p:cNvSpPr txBox="1"/>
          <p:nvPr/>
        </p:nvSpPr>
        <p:spPr>
          <a:xfrm>
            <a:off x="613318" y="776540"/>
            <a:ext cx="44133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vc-relax_twochem.in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86B54F0-1C00-4535-D859-876152168FC7}"/>
              </a:ext>
            </a:extLst>
          </p:cNvPr>
          <p:cNvSpPr txBox="1"/>
          <p:nvPr/>
        </p:nvSpPr>
        <p:spPr>
          <a:xfrm>
            <a:off x="4880518" y="2818384"/>
            <a:ext cx="375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Changes</a:t>
            </a:r>
            <a:r>
              <a:rPr lang="it-IT" sz="1400" dirty="0">
                <a:solidFill>
                  <a:srgbClr val="C00000"/>
                </a:solidFill>
              </a:rPr>
              <a:t> are </a:t>
            </a:r>
            <a:r>
              <a:rPr lang="it-IT" sz="1400" dirty="0" err="1">
                <a:solidFill>
                  <a:srgbClr val="C00000"/>
                </a:solidFill>
              </a:rPr>
              <a:t>concentrated</a:t>
            </a:r>
            <a:r>
              <a:rPr lang="it-IT" sz="1400" dirty="0">
                <a:solidFill>
                  <a:srgbClr val="C00000"/>
                </a:solidFill>
              </a:rPr>
              <a:t> in </a:t>
            </a:r>
            <a:r>
              <a:rPr lang="it-IT" sz="1400" dirty="0" err="1">
                <a:solidFill>
                  <a:srgbClr val="C00000"/>
                </a:solidFill>
              </a:rPr>
              <a:t>these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two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blocks</a:t>
            </a:r>
            <a:endParaRPr lang="it-IT" sz="1400" dirty="0">
              <a:solidFill>
                <a:srgbClr val="C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83C936-F7BD-D84F-65D5-5C864AF7F24E}"/>
              </a:ext>
            </a:extLst>
          </p:cNvPr>
          <p:cNvSpPr txBox="1"/>
          <p:nvPr/>
        </p:nvSpPr>
        <p:spPr>
          <a:xfrm>
            <a:off x="731234" y="1269667"/>
            <a:ext cx="26298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&amp;control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calculation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-relax'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tprnfor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tstress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twochem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pseudo_dir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='../Pseudo/',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&amp;system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ibrav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celldm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 =10.20,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ntyp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ecutwfc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=30.0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=8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nelec_cond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occupations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gaussian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ATOMIC_SPECIES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  28.086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Si.pz-vbc.UPF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{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0.00 0.00 0.00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0.25 0.25 0.25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K_POINTS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automatic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4 4 4 1 1 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B3D0F23-56CC-0140-6634-C76C8CDBFCE4}"/>
              </a:ext>
            </a:extLst>
          </p:cNvPr>
          <p:cNvSpPr/>
          <p:nvPr/>
        </p:nvSpPr>
        <p:spPr>
          <a:xfrm>
            <a:off x="1050324" y="1907806"/>
            <a:ext cx="2774544" cy="13796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3658A8E-A638-4556-5FD4-779BDB2F0A42}"/>
              </a:ext>
            </a:extLst>
          </p:cNvPr>
          <p:cNvSpPr/>
          <p:nvPr/>
        </p:nvSpPr>
        <p:spPr>
          <a:xfrm>
            <a:off x="1050324" y="3011621"/>
            <a:ext cx="2774544" cy="1025120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97D33F29-3834-ACE8-5E01-D1E2BBFB7A13}"/>
              </a:ext>
            </a:extLst>
          </p:cNvPr>
          <p:cNvSpPr/>
          <p:nvPr/>
        </p:nvSpPr>
        <p:spPr>
          <a:xfrm>
            <a:off x="4207727" y="1907806"/>
            <a:ext cx="289932" cy="2128935"/>
          </a:xfrm>
          <a:prstGeom prst="rightBrac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age 13">
            <a:extLst>
              <a:ext uri="{FF2B5EF4-FFF2-40B4-BE49-F238E27FC236}">
                <a16:creationId xmlns:a16="http://schemas.microsoft.com/office/drawing/2014/main" id="{AE76FDCD-6036-5A2D-CADB-EF2CCD746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1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198FE-035C-BC55-DBF4-51C45CD2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85015F8-C48E-AAED-AA9F-784CCFAC807C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457BB50-AA6C-F690-00DF-0E735D8D2E53}"/>
              </a:ext>
            </a:extLst>
          </p:cNvPr>
          <p:cNvSpPr txBox="1"/>
          <p:nvPr/>
        </p:nvSpPr>
        <p:spPr>
          <a:xfrm>
            <a:off x="613318" y="776540"/>
            <a:ext cx="44133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vc-relax_twochem.in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E21A83F-2EDA-91A6-8FF1-68A6B0B5F19A}"/>
              </a:ext>
            </a:extLst>
          </p:cNvPr>
          <p:cNvSpPr txBox="1"/>
          <p:nvPr/>
        </p:nvSpPr>
        <p:spPr>
          <a:xfrm>
            <a:off x="4781724" y="1822898"/>
            <a:ext cx="4591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Flag </a:t>
            </a:r>
            <a:r>
              <a:rPr lang="it-IT" sz="1400" dirty="0" err="1">
                <a:solidFill>
                  <a:srgbClr val="C00000"/>
                </a:solidFill>
              </a:rPr>
              <a:t>activating</a:t>
            </a:r>
            <a:r>
              <a:rPr lang="it-IT" sz="1400" dirty="0">
                <a:solidFill>
                  <a:srgbClr val="C00000"/>
                </a:solidFill>
              </a:rPr>
              <a:t> the </a:t>
            </a:r>
            <a:r>
              <a:rPr lang="it-IT" sz="1400" dirty="0" err="1">
                <a:solidFill>
                  <a:srgbClr val="C00000"/>
                </a:solidFill>
              </a:rPr>
              <a:t>two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chemical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potentials</a:t>
            </a:r>
            <a:r>
              <a:rPr lang="it-IT" sz="1400" dirty="0">
                <a:solidFill>
                  <a:srgbClr val="C00000"/>
                </a:solidFill>
              </a:rPr>
              <a:t> option in </a:t>
            </a:r>
            <a:r>
              <a:rPr lang="it-IT" sz="1400" dirty="0" err="1">
                <a:solidFill>
                  <a:srgbClr val="C00000"/>
                </a:solidFill>
              </a:rPr>
              <a:t>pw.x</a:t>
            </a:r>
            <a:endParaRPr lang="it-IT" sz="1400" dirty="0">
              <a:solidFill>
                <a:srgbClr val="C00000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25C96D3-8341-A168-C03C-BC65A02C89E6}"/>
              </a:ext>
            </a:extLst>
          </p:cNvPr>
          <p:cNvSpPr txBox="1"/>
          <p:nvPr/>
        </p:nvSpPr>
        <p:spPr>
          <a:xfrm>
            <a:off x="731234" y="1269667"/>
            <a:ext cx="26298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&amp;control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calculation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-relax'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tprnfor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tstress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twochem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pseudo_dir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='../Pseudo/',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&amp;system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ibrav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celldm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 =10.20,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ntyp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ecutwfc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=30.0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=8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nelec_cond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occupations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gaussian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ATOMIC_SPECIES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  28.086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Si.pz-vbc.UPF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{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0.00 0.00 0.00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0.25 0.25 0.25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K_POINTS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automatic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4 4 4 1 1 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53EAC33-6D58-5FE7-0701-E1850041038A}"/>
              </a:ext>
            </a:extLst>
          </p:cNvPr>
          <p:cNvSpPr/>
          <p:nvPr/>
        </p:nvSpPr>
        <p:spPr>
          <a:xfrm>
            <a:off x="1050324" y="1907806"/>
            <a:ext cx="2774544" cy="13796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C73F9FF-0F5A-3043-2811-0257D33AD02E}"/>
              </a:ext>
            </a:extLst>
          </p:cNvPr>
          <p:cNvCxnSpPr/>
          <p:nvPr/>
        </p:nvCxnSpPr>
        <p:spPr>
          <a:xfrm>
            <a:off x="4153808" y="1976173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13">
            <a:extLst>
              <a:ext uri="{FF2B5EF4-FFF2-40B4-BE49-F238E27FC236}">
                <a16:creationId xmlns:a16="http://schemas.microsoft.com/office/drawing/2014/main" id="{254AB728-A973-27F7-530E-CE2933F97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4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A6993-2E9D-6D75-2EEF-8D57B566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321D2C4-E1C4-23B5-FE91-144ED6D44F1A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FE2932-77F7-6AAA-65F2-E8327F92046C}"/>
              </a:ext>
            </a:extLst>
          </p:cNvPr>
          <p:cNvSpPr txBox="1"/>
          <p:nvPr/>
        </p:nvSpPr>
        <p:spPr>
          <a:xfrm>
            <a:off x="613318" y="776540"/>
            <a:ext cx="44133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vc-relax_twochem.in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5AEBE894-0B76-AB0E-7E1E-10547865B73C}"/>
              </a:ext>
            </a:extLst>
          </p:cNvPr>
          <p:cNvCxnSpPr/>
          <p:nvPr/>
        </p:nvCxnSpPr>
        <p:spPr>
          <a:xfrm>
            <a:off x="3901047" y="3121032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07BF4F0-247B-145E-7034-554422E72FFB}"/>
              </a:ext>
            </a:extLst>
          </p:cNvPr>
          <p:cNvSpPr txBox="1"/>
          <p:nvPr/>
        </p:nvSpPr>
        <p:spPr>
          <a:xfrm>
            <a:off x="4490182" y="2945553"/>
            <a:ext cx="6106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We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need</a:t>
            </a:r>
            <a:r>
              <a:rPr lang="it-IT" sz="1400" dirty="0">
                <a:solidFill>
                  <a:srgbClr val="C00000"/>
                </a:solidFill>
              </a:rPr>
              <a:t> to include more </a:t>
            </a:r>
            <a:r>
              <a:rPr lang="it-IT" sz="1400" dirty="0" err="1">
                <a:solidFill>
                  <a:srgbClr val="C00000"/>
                </a:solidFill>
              </a:rPr>
              <a:t>bands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as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we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want</a:t>
            </a:r>
            <a:r>
              <a:rPr lang="it-IT" sz="1400" dirty="0">
                <a:solidFill>
                  <a:srgbClr val="C00000"/>
                </a:solidFill>
              </a:rPr>
              <a:t> to </a:t>
            </a:r>
            <a:r>
              <a:rPr lang="it-IT" sz="1400" dirty="0" err="1">
                <a:solidFill>
                  <a:srgbClr val="C00000"/>
                </a:solidFill>
              </a:rPr>
              <a:t>populate</a:t>
            </a:r>
            <a:r>
              <a:rPr lang="it-IT" sz="1400" dirty="0">
                <a:solidFill>
                  <a:srgbClr val="C00000"/>
                </a:solidFill>
              </a:rPr>
              <a:t> the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band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45192A-842E-C537-F665-2DDD47445FB0}"/>
              </a:ext>
            </a:extLst>
          </p:cNvPr>
          <p:cNvSpPr txBox="1"/>
          <p:nvPr/>
        </p:nvSpPr>
        <p:spPr>
          <a:xfrm>
            <a:off x="731234" y="1269667"/>
            <a:ext cx="26298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&amp;control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calculation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-relax'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tprnfor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tstress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twochem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pseudo_dir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='../Pseudo/',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&amp;system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ibrav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celldm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 =10.20,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ntyp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ecutwfc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=30.0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=8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nelec_cond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occupations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gaussian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ATOMIC_SPECIES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  28.086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Si.pz-vbc.UPF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{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0.00 0.00 0.00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0.25 0.25 0.25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K_POINTS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automatic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4 4 4 1 1 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3EDF1B0-1C60-7DC8-BA00-71962FFF4F58}"/>
              </a:ext>
            </a:extLst>
          </p:cNvPr>
          <p:cNvSpPr/>
          <p:nvPr/>
        </p:nvSpPr>
        <p:spPr>
          <a:xfrm>
            <a:off x="1050324" y="3018885"/>
            <a:ext cx="2774544" cy="13796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age 13">
            <a:extLst>
              <a:ext uri="{FF2B5EF4-FFF2-40B4-BE49-F238E27FC236}">
                <a16:creationId xmlns:a16="http://schemas.microsoft.com/office/drawing/2014/main" id="{6E4009EE-D920-5CD7-9B4C-C9E41BE9B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3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DDED-C3C5-4961-2BC4-1ACAAD48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57E5758-A647-7686-0B3B-A04574EBEB05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5C399A-7C53-B4BA-240C-5A79542F890F}"/>
              </a:ext>
            </a:extLst>
          </p:cNvPr>
          <p:cNvSpPr txBox="1"/>
          <p:nvPr/>
        </p:nvSpPr>
        <p:spPr>
          <a:xfrm>
            <a:off x="613318" y="776540"/>
            <a:ext cx="44133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vc-relax_twochem.in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218DA3F8-E813-03DB-A2CE-D0F0A76D36C1}"/>
              </a:ext>
            </a:extLst>
          </p:cNvPr>
          <p:cNvCxnSpPr/>
          <p:nvPr/>
        </p:nvCxnSpPr>
        <p:spPr>
          <a:xfrm>
            <a:off x="3893613" y="3197908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55B789F-1E16-A5E4-60FA-400E1D2DE357}"/>
              </a:ext>
            </a:extLst>
          </p:cNvPr>
          <p:cNvSpPr txBox="1"/>
          <p:nvPr/>
        </p:nvSpPr>
        <p:spPr>
          <a:xfrm>
            <a:off x="4483971" y="3030460"/>
            <a:ext cx="6650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We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need</a:t>
            </a:r>
            <a:r>
              <a:rPr lang="it-IT" sz="1400" dirty="0">
                <a:solidFill>
                  <a:srgbClr val="C00000"/>
                </a:solidFill>
              </a:rPr>
              <a:t> to tell </a:t>
            </a:r>
            <a:r>
              <a:rPr lang="it-IT" sz="1400" dirty="0" err="1">
                <a:solidFill>
                  <a:srgbClr val="C00000"/>
                </a:solidFill>
              </a:rPr>
              <a:t>pw.x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how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many</a:t>
            </a:r>
            <a:r>
              <a:rPr lang="it-IT" sz="1400" dirty="0">
                <a:solidFill>
                  <a:srgbClr val="C00000"/>
                </a:solidFill>
              </a:rPr>
              <a:t> of </a:t>
            </a:r>
            <a:r>
              <a:rPr lang="it-IT" sz="1400" dirty="0" err="1">
                <a:solidFill>
                  <a:srgbClr val="C00000"/>
                </a:solidFill>
              </a:rPr>
              <a:t>these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bands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belong</a:t>
            </a:r>
            <a:r>
              <a:rPr lang="it-IT" sz="1400" dirty="0">
                <a:solidFill>
                  <a:srgbClr val="C00000"/>
                </a:solidFill>
              </a:rPr>
              <a:t> to the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, </a:t>
            </a:r>
            <a:r>
              <a:rPr lang="it-IT" sz="1400" dirty="0" err="1">
                <a:solidFill>
                  <a:srgbClr val="C00000"/>
                </a:solidFill>
              </a:rPr>
              <a:t>this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means</a:t>
            </a:r>
            <a:endParaRPr lang="it-IT" sz="1400" dirty="0">
              <a:solidFill>
                <a:srgbClr val="C00000"/>
              </a:solidFill>
            </a:endParaRPr>
          </a:p>
          <a:p>
            <a:r>
              <a:rPr lang="it-IT" sz="1400" dirty="0">
                <a:solidFill>
                  <a:srgbClr val="C00000"/>
                </a:solidFill>
              </a:rPr>
              <a:t>The last </a:t>
            </a:r>
            <a:r>
              <a:rPr lang="it-IT" sz="1400" dirty="0" err="1">
                <a:solidFill>
                  <a:srgbClr val="C00000"/>
                </a:solidFill>
              </a:rPr>
              <a:t>four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bands</a:t>
            </a:r>
            <a:r>
              <a:rPr lang="it-IT" sz="1400" dirty="0">
                <a:solidFill>
                  <a:srgbClr val="C00000"/>
                </a:solidFill>
              </a:rPr>
              <a:t> (5,6,7,8) </a:t>
            </a:r>
            <a:r>
              <a:rPr lang="it-IT" sz="1400" dirty="0" err="1">
                <a:solidFill>
                  <a:srgbClr val="C00000"/>
                </a:solidFill>
              </a:rPr>
              <a:t>belongs</a:t>
            </a:r>
            <a:r>
              <a:rPr lang="it-IT" sz="1400" dirty="0">
                <a:solidFill>
                  <a:srgbClr val="C00000"/>
                </a:solidFill>
              </a:rPr>
              <a:t> to the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FF59F4-ADB3-A9A9-309B-490AF43C1D80}"/>
              </a:ext>
            </a:extLst>
          </p:cNvPr>
          <p:cNvSpPr txBox="1"/>
          <p:nvPr/>
        </p:nvSpPr>
        <p:spPr>
          <a:xfrm>
            <a:off x="731234" y="1269667"/>
            <a:ext cx="26298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&amp;control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calculation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-relax'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tprnfor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tstress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twochem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pseudo_dir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='../Pseudo/',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&amp;system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ibrav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celldm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 =10.20,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ntyp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ecutwfc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=30.0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=8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nelec_cond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occupations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gaussian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ATOMIC_SPECIES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  28.086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Si.pz-vbc.UPF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{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0.00 0.00 0.00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0.25 0.25 0.25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K_POINTS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automatic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4 4 4 1 1 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2DCB9E9-9A96-1139-089B-61D87835F533}"/>
              </a:ext>
            </a:extLst>
          </p:cNvPr>
          <p:cNvSpPr/>
          <p:nvPr/>
        </p:nvSpPr>
        <p:spPr>
          <a:xfrm>
            <a:off x="1050324" y="3115368"/>
            <a:ext cx="2774544" cy="13796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age 13">
            <a:extLst>
              <a:ext uri="{FF2B5EF4-FFF2-40B4-BE49-F238E27FC236}">
                <a16:creationId xmlns:a16="http://schemas.microsoft.com/office/drawing/2014/main" id="{07A096F0-8612-4D20-D9F7-E3A2D479A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6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26C5-725E-E3EC-5002-28E89E6E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8E01467-C631-8968-2027-34EC05E0956F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D6B3309-45DA-6070-63A1-F1F7E5DAC641}"/>
              </a:ext>
            </a:extLst>
          </p:cNvPr>
          <p:cNvSpPr txBox="1"/>
          <p:nvPr/>
        </p:nvSpPr>
        <p:spPr>
          <a:xfrm>
            <a:off x="613318" y="776540"/>
            <a:ext cx="44133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vc-relax_twochem.in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504B76C-24DB-4964-15DD-A3C2F86905C8}"/>
              </a:ext>
            </a:extLst>
          </p:cNvPr>
          <p:cNvCxnSpPr/>
          <p:nvPr/>
        </p:nvCxnSpPr>
        <p:spPr>
          <a:xfrm>
            <a:off x="3971015" y="3740759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0A3F10C-9AF2-2375-C5A0-5E706E436B78}"/>
              </a:ext>
            </a:extLst>
          </p:cNvPr>
          <p:cNvSpPr txBox="1"/>
          <p:nvPr/>
        </p:nvSpPr>
        <p:spPr>
          <a:xfrm>
            <a:off x="4632097" y="3516436"/>
            <a:ext cx="667779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As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we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transfered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electrons</a:t>
            </a:r>
            <a:r>
              <a:rPr lang="it-IT" sz="1400" dirty="0">
                <a:solidFill>
                  <a:srgbClr val="C00000"/>
                </a:solidFill>
              </a:rPr>
              <a:t> in the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band, </a:t>
            </a:r>
            <a:r>
              <a:rPr lang="it-IT" sz="1400" dirty="0" err="1">
                <a:solidFill>
                  <a:srgbClr val="C00000"/>
                </a:solidFill>
              </a:rPr>
              <a:t>leaving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holes</a:t>
            </a:r>
            <a:r>
              <a:rPr lang="it-IT" sz="1400" dirty="0">
                <a:solidFill>
                  <a:srgbClr val="C00000"/>
                </a:solidFill>
              </a:rPr>
              <a:t> in the </a:t>
            </a:r>
            <a:r>
              <a:rPr lang="it-IT" sz="1400" dirty="0" err="1">
                <a:solidFill>
                  <a:srgbClr val="C00000"/>
                </a:solidFill>
              </a:rPr>
              <a:t>valence</a:t>
            </a:r>
            <a:r>
              <a:rPr lang="it-IT" sz="1400" dirty="0">
                <a:solidFill>
                  <a:srgbClr val="C00000"/>
                </a:solidFill>
              </a:rPr>
              <a:t>, </a:t>
            </a:r>
          </a:p>
          <a:p>
            <a:r>
              <a:rPr lang="it-IT" sz="1400" dirty="0">
                <a:solidFill>
                  <a:srgbClr val="C00000"/>
                </a:solidFill>
              </a:rPr>
              <a:t>The system </a:t>
            </a:r>
            <a:r>
              <a:rPr lang="it-IT" sz="1400" dirty="0" err="1">
                <a:solidFill>
                  <a:srgbClr val="C00000"/>
                </a:solidFill>
              </a:rPr>
              <a:t>is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metallic</a:t>
            </a:r>
            <a:r>
              <a:rPr lang="it-IT" sz="1400" dirty="0">
                <a:solidFill>
                  <a:srgbClr val="C00000"/>
                </a:solidFill>
              </a:rPr>
              <a:t> and </a:t>
            </a:r>
            <a:r>
              <a:rPr lang="it-IT" sz="1400" dirty="0" err="1">
                <a:solidFill>
                  <a:srgbClr val="C00000"/>
                </a:solidFill>
              </a:rPr>
              <a:t>we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need</a:t>
            </a:r>
            <a:r>
              <a:rPr lang="it-IT" sz="1400" dirty="0">
                <a:solidFill>
                  <a:srgbClr val="C00000"/>
                </a:solidFill>
              </a:rPr>
              <a:t> to </a:t>
            </a:r>
            <a:r>
              <a:rPr lang="it-IT" sz="1400" dirty="0" err="1">
                <a:solidFill>
                  <a:srgbClr val="C00000"/>
                </a:solidFill>
              </a:rPr>
              <a:t>treat</a:t>
            </a:r>
            <a:r>
              <a:rPr lang="it-IT" sz="1400" dirty="0">
                <a:solidFill>
                  <a:srgbClr val="C00000"/>
                </a:solidFill>
              </a:rPr>
              <a:t> the system </a:t>
            </a:r>
            <a:r>
              <a:rPr lang="it-IT" sz="1400" dirty="0" err="1">
                <a:solidFill>
                  <a:srgbClr val="C00000"/>
                </a:solidFill>
              </a:rPr>
              <a:t>as</a:t>
            </a:r>
            <a:r>
              <a:rPr lang="it-IT" sz="1400" dirty="0">
                <a:solidFill>
                  <a:srgbClr val="C00000"/>
                </a:solidFill>
              </a:rPr>
              <a:t> a metal.</a:t>
            </a:r>
          </a:p>
          <a:p>
            <a:endParaRPr lang="it-IT" sz="1400" dirty="0">
              <a:solidFill>
                <a:srgbClr val="C00000"/>
              </a:solidFill>
            </a:endParaRPr>
          </a:p>
          <a:p>
            <a:r>
              <a:rPr lang="it-IT" sz="1400" dirty="0">
                <a:solidFill>
                  <a:srgbClr val="002060"/>
                </a:solidFill>
              </a:rPr>
              <a:t>In </a:t>
            </a:r>
            <a:r>
              <a:rPr lang="it-IT" sz="1400" dirty="0" err="1">
                <a:solidFill>
                  <a:srgbClr val="002060"/>
                </a:solidFill>
              </a:rPr>
              <a:t>principle</a:t>
            </a:r>
            <a:r>
              <a:rPr lang="it-IT" sz="1400" dirty="0">
                <a:solidFill>
                  <a:srgbClr val="002060"/>
                </a:solidFill>
              </a:rPr>
              <a:t> </a:t>
            </a:r>
            <a:r>
              <a:rPr lang="it-IT" sz="1400" dirty="0" err="1">
                <a:solidFill>
                  <a:srgbClr val="002060"/>
                </a:solidFill>
              </a:rPr>
              <a:t>we</a:t>
            </a:r>
            <a:r>
              <a:rPr lang="it-IT" sz="1400" dirty="0">
                <a:solidFill>
                  <a:srgbClr val="002060"/>
                </a:solidFill>
              </a:rPr>
              <a:t> can use </a:t>
            </a:r>
            <a:r>
              <a:rPr lang="it-IT" sz="1400" dirty="0" err="1">
                <a:solidFill>
                  <a:srgbClr val="002060"/>
                </a:solidFill>
              </a:rPr>
              <a:t>different</a:t>
            </a:r>
            <a:r>
              <a:rPr lang="it-IT" sz="1400" dirty="0">
                <a:solidFill>
                  <a:srgbClr val="002060"/>
                </a:solidFill>
              </a:rPr>
              <a:t> </a:t>
            </a:r>
            <a:r>
              <a:rPr lang="it-IT" sz="1400" dirty="0" err="1">
                <a:solidFill>
                  <a:srgbClr val="002060"/>
                </a:solidFill>
              </a:rPr>
              <a:t>values</a:t>
            </a:r>
            <a:r>
              <a:rPr lang="it-IT" sz="1400" dirty="0">
                <a:solidFill>
                  <a:srgbClr val="002060"/>
                </a:solidFill>
              </a:rPr>
              <a:t> for the </a:t>
            </a:r>
            <a:r>
              <a:rPr lang="it-IT" sz="1400" dirty="0" err="1">
                <a:solidFill>
                  <a:srgbClr val="7030A0"/>
                </a:solidFill>
              </a:rPr>
              <a:t>electrons</a:t>
            </a:r>
            <a:r>
              <a:rPr lang="it-IT" sz="1400" dirty="0">
                <a:solidFill>
                  <a:srgbClr val="7030A0"/>
                </a:solidFill>
              </a:rPr>
              <a:t> </a:t>
            </a:r>
            <a:r>
              <a:rPr lang="it-IT" sz="1400" dirty="0" err="1">
                <a:solidFill>
                  <a:srgbClr val="7030A0"/>
                </a:solidFill>
              </a:rPr>
              <a:t>broadening</a:t>
            </a:r>
            <a:r>
              <a:rPr lang="it-IT" sz="1400" dirty="0">
                <a:solidFill>
                  <a:srgbClr val="7030A0"/>
                </a:solidFill>
              </a:rPr>
              <a:t> (</a:t>
            </a:r>
            <a:r>
              <a:rPr lang="it-IT" sz="1400" dirty="0" err="1">
                <a:solidFill>
                  <a:srgbClr val="7030A0"/>
                </a:solidFill>
              </a:rPr>
              <a:t>degauss_cond</a:t>
            </a:r>
            <a:r>
              <a:rPr lang="it-IT" sz="1400" dirty="0">
                <a:solidFill>
                  <a:srgbClr val="7030A0"/>
                </a:solidFill>
              </a:rPr>
              <a:t>)</a:t>
            </a:r>
          </a:p>
          <a:p>
            <a:r>
              <a:rPr lang="it-IT" sz="1400" dirty="0">
                <a:solidFill>
                  <a:srgbClr val="002060"/>
                </a:solidFill>
              </a:rPr>
              <a:t>And for the </a:t>
            </a:r>
            <a:r>
              <a:rPr lang="it-IT" sz="1400" dirty="0" err="1">
                <a:solidFill>
                  <a:schemeClr val="accent6">
                    <a:lumMod val="50000"/>
                  </a:schemeClr>
                </a:solidFill>
              </a:rPr>
              <a:t>holes</a:t>
            </a:r>
            <a:r>
              <a:rPr lang="it-IT" sz="1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sz="1400" dirty="0" err="1">
                <a:solidFill>
                  <a:schemeClr val="accent6">
                    <a:lumMod val="50000"/>
                  </a:schemeClr>
                </a:solidFill>
              </a:rPr>
              <a:t>broadening</a:t>
            </a:r>
            <a:r>
              <a:rPr lang="it-IT" sz="1400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it-IT" sz="1400" dirty="0" err="1">
                <a:solidFill>
                  <a:schemeClr val="accent6">
                    <a:lumMod val="50000"/>
                  </a:schemeClr>
                </a:solidFill>
              </a:rPr>
              <a:t>degauss</a:t>
            </a:r>
            <a:r>
              <a:rPr lang="it-IT" sz="1400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endParaRPr lang="it-IT" sz="14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it-IT" sz="1400" dirty="0">
                <a:solidFill>
                  <a:srgbClr val="002060"/>
                </a:solidFill>
              </a:rPr>
              <a:t>In the </a:t>
            </a:r>
            <a:r>
              <a:rPr lang="it-IT" sz="1400" dirty="0" err="1">
                <a:solidFill>
                  <a:srgbClr val="002060"/>
                </a:solidFill>
              </a:rPr>
              <a:t>present</a:t>
            </a:r>
            <a:r>
              <a:rPr lang="it-IT" sz="1400" dirty="0">
                <a:solidFill>
                  <a:srgbClr val="002060"/>
                </a:solidFill>
              </a:rPr>
              <a:t> case </a:t>
            </a:r>
            <a:r>
              <a:rPr lang="it-IT" sz="1400" dirty="0" err="1">
                <a:solidFill>
                  <a:srgbClr val="002060"/>
                </a:solidFill>
              </a:rPr>
              <a:t>they</a:t>
            </a:r>
            <a:r>
              <a:rPr lang="it-IT" sz="1400" dirty="0">
                <a:solidFill>
                  <a:srgbClr val="002060"/>
                </a:solidFill>
              </a:rPr>
              <a:t> are </a:t>
            </a:r>
            <a:r>
              <a:rPr lang="it-IT" sz="1400" dirty="0" err="1">
                <a:solidFill>
                  <a:srgbClr val="002060"/>
                </a:solidFill>
              </a:rPr>
              <a:t>identical</a:t>
            </a:r>
            <a:r>
              <a:rPr lang="it-IT" sz="14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9ED6DED-9834-682C-76F7-2B17721B75D6}"/>
              </a:ext>
            </a:extLst>
          </p:cNvPr>
          <p:cNvSpPr txBox="1"/>
          <p:nvPr/>
        </p:nvSpPr>
        <p:spPr>
          <a:xfrm>
            <a:off x="731234" y="1269667"/>
            <a:ext cx="26298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&amp;control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calculation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-relax'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tprnfor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tstress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twochem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pseudo_dir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='../Pseudo/',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&amp;system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ibrav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celldm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 =10.20,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ntyp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ecutwfc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=30.0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=8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nelec_cond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occupations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gaussian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ATOMIC_SPECIES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  28.086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Si.pz-vbc.UPF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{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0.00 0.00 0.00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0.25 0.25 0.25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K_POINTS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automatic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4 4 4 1 1 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564A3E6-218A-FD75-9678-3D40F55E46BB}"/>
              </a:ext>
            </a:extLst>
          </p:cNvPr>
          <p:cNvSpPr/>
          <p:nvPr/>
        </p:nvSpPr>
        <p:spPr>
          <a:xfrm>
            <a:off x="1057875" y="3484699"/>
            <a:ext cx="2774544" cy="13796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787B47B-DB36-8AE0-73F7-6EC74E27A153}"/>
              </a:ext>
            </a:extLst>
          </p:cNvPr>
          <p:cNvSpPr/>
          <p:nvPr/>
        </p:nvSpPr>
        <p:spPr>
          <a:xfrm>
            <a:off x="1057875" y="3622661"/>
            <a:ext cx="2774544" cy="40073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E7CDD458-1ACF-AB67-4017-1A2211DFD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7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9E2EF-0D89-5B4C-7972-AA0D5A9B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BD143B3-E098-1063-8C66-FB097D41AFFE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3A1E928-948B-350E-332E-9FD043A832B3}"/>
              </a:ext>
            </a:extLst>
          </p:cNvPr>
          <p:cNvSpPr txBox="1"/>
          <p:nvPr/>
        </p:nvSpPr>
        <p:spPr>
          <a:xfrm>
            <a:off x="613318" y="776540"/>
            <a:ext cx="44133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 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vc-relax_twochem.in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761316E-B0E1-128B-BD40-AC7B9EE3C427}"/>
              </a:ext>
            </a:extLst>
          </p:cNvPr>
          <p:cNvCxnSpPr/>
          <p:nvPr/>
        </p:nvCxnSpPr>
        <p:spPr>
          <a:xfrm>
            <a:off x="3933844" y="3368837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59B6D18-7C3D-AFFF-2BE7-8144DD5709E7}"/>
              </a:ext>
            </a:extLst>
          </p:cNvPr>
          <p:cNvSpPr txBox="1"/>
          <p:nvPr/>
        </p:nvSpPr>
        <p:spPr>
          <a:xfrm>
            <a:off x="4493506" y="3196768"/>
            <a:ext cx="65848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Number</a:t>
            </a:r>
            <a:r>
              <a:rPr lang="it-IT" sz="1400" dirty="0">
                <a:solidFill>
                  <a:srgbClr val="C00000"/>
                </a:solidFill>
              </a:rPr>
              <a:t> of electron per </a:t>
            </a:r>
            <a:r>
              <a:rPr lang="it-IT" sz="1400" dirty="0" err="1">
                <a:solidFill>
                  <a:srgbClr val="C00000"/>
                </a:solidFill>
              </a:rPr>
              <a:t>cell</a:t>
            </a:r>
            <a:r>
              <a:rPr lang="it-IT" sz="1400" dirty="0">
                <a:solidFill>
                  <a:srgbClr val="C00000"/>
                </a:solidFill>
              </a:rPr>
              <a:t> in the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band.</a:t>
            </a:r>
          </a:p>
          <a:p>
            <a:endParaRPr lang="it-IT" sz="1400" dirty="0">
              <a:solidFill>
                <a:srgbClr val="C00000"/>
              </a:solidFill>
            </a:endParaRPr>
          </a:p>
          <a:p>
            <a:r>
              <a:rPr lang="it-IT" sz="1400" dirty="0">
                <a:solidFill>
                  <a:srgbClr val="C00000"/>
                </a:solidFill>
              </a:rPr>
              <a:t>For </a:t>
            </a:r>
            <a:r>
              <a:rPr lang="it-IT" sz="1400" dirty="0" err="1">
                <a:solidFill>
                  <a:srgbClr val="C00000"/>
                </a:solidFill>
              </a:rPr>
              <a:t>charge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conservation</a:t>
            </a:r>
            <a:r>
              <a:rPr lang="it-IT" sz="1400" dirty="0">
                <a:solidFill>
                  <a:srgbClr val="C00000"/>
                </a:solidFill>
              </a:rPr>
              <a:t>, the </a:t>
            </a:r>
            <a:r>
              <a:rPr lang="it-IT" sz="1400" dirty="0" err="1">
                <a:solidFill>
                  <a:srgbClr val="C00000"/>
                </a:solidFill>
              </a:rPr>
              <a:t>same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number</a:t>
            </a:r>
            <a:r>
              <a:rPr lang="it-IT" sz="1400" dirty="0">
                <a:solidFill>
                  <a:srgbClr val="C00000"/>
                </a:solidFill>
              </a:rPr>
              <a:t> of </a:t>
            </a:r>
            <a:r>
              <a:rPr lang="it-IT" sz="1400" dirty="0" err="1">
                <a:solidFill>
                  <a:srgbClr val="C00000"/>
                </a:solidFill>
              </a:rPr>
              <a:t>holes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will</a:t>
            </a:r>
            <a:r>
              <a:rPr lang="it-IT" sz="1400" dirty="0">
                <a:solidFill>
                  <a:srgbClr val="C00000"/>
                </a:solidFill>
              </a:rPr>
              <a:t> be put in the </a:t>
            </a:r>
            <a:r>
              <a:rPr lang="it-IT" sz="1400" dirty="0" err="1">
                <a:solidFill>
                  <a:srgbClr val="C00000"/>
                </a:solidFill>
              </a:rPr>
              <a:t>valence</a:t>
            </a:r>
            <a:r>
              <a:rPr lang="it-IT" sz="1400" dirty="0">
                <a:solidFill>
                  <a:srgbClr val="C00000"/>
                </a:solidFill>
              </a:rPr>
              <a:t> band.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308F31F-78AE-EB0B-825D-45AC5D213D86}"/>
              </a:ext>
            </a:extLst>
          </p:cNvPr>
          <p:cNvSpPr txBox="1"/>
          <p:nvPr/>
        </p:nvSpPr>
        <p:spPr>
          <a:xfrm>
            <a:off x="731234" y="1269667"/>
            <a:ext cx="26298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&amp;control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calculation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-relax'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tprnfor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tstress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twochem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=.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pseudo_dir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='../Pseudo/',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&amp;system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ibrav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celldm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 =10.20,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=2,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ntyp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=1,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ecutwfc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=30.0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=8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nbnd_cond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nelec_cond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occupations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degauss_cond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degauss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=0.01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smearing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gaussian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ions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&amp;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/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ATOMIC_SPECIES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  28.086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Si.pz-vbc.UPF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{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0.00 0.00 0.00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Si 0.25 0.25 0.25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K_POINTS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automatic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4 4 4 1 1 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B920576-E070-3AE5-98C0-672B67086C09}"/>
              </a:ext>
            </a:extLst>
          </p:cNvPr>
          <p:cNvSpPr/>
          <p:nvPr/>
        </p:nvSpPr>
        <p:spPr>
          <a:xfrm>
            <a:off x="1020704" y="3291038"/>
            <a:ext cx="2774544" cy="13796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39E9C053-8713-D65C-61A7-8CC01E34A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05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2DD3-BB11-181B-59A4-56066C39E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2C9D55B-0927-15AD-C7C8-4FE46B6C2BD7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E93800-19BE-579F-B8A9-3E3A6DB40669}"/>
              </a:ext>
            </a:extLst>
          </p:cNvPr>
          <p:cNvSpPr txBox="1"/>
          <p:nvPr/>
        </p:nvSpPr>
        <p:spPr>
          <a:xfrm>
            <a:off x="613318" y="776540"/>
            <a:ext cx="464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file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B4B8E8A-9A68-F726-179B-A09706ACC95C}"/>
              </a:ext>
            </a:extLst>
          </p:cNvPr>
          <p:cNvCxnSpPr/>
          <p:nvPr/>
        </p:nvCxnSpPr>
        <p:spPr>
          <a:xfrm>
            <a:off x="5583043" y="2683161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9444E5E-944F-53BE-4637-9FC84AB5330E}"/>
              </a:ext>
            </a:extLst>
          </p:cNvPr>
          <p:cNvSpPr txBox="1"/>
          <p:nvPr/>
        </p:nvSpPr>
        <p:spPr>
          <a:xfrm>
            <a:off x="6187510" y="2554628"/>
            <a:ext cx="473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Increased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number</a:t>
            </a:r>
            <a:r>
              <a:rPr lang="it-IT" sz="1400" dirty="0">
                <a:solidFill>
                  <a:srgbClr val="C00000"/>
                </a:solidFill>
              </a:rPr>
              <a:t> of KS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including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endParaRPr lang="it-IT" sz="1400" dirty="0">
              <a:solidFill>
                <a:srgbClr val="C00000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8B36D83-5FF1-3006-9EE6-CAE33BE6D5A9}"/>
              </a:ext>
            </a:extLst>
          </p:cNvPr>
          <p:cNvSpPr/>
          <p:nvPr/>
        </p:nvSpPr>
        <p:spPr>
          <a:xfrm>
            <a:off x="1035571" y="2458413"/>
            <a:ext cx="4302145" cy="40399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C989F00E-7CD0-5257-DE24-ADDF660D9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666FAC1-644E-B423-7E24-4AEBE1E742D1}"/>
              </a:ext>
            </a:extLst>
          </p:cNvPr>
          <p:cNvSpPr txBox="1"/>
          <p:nvPr/>
        </p:nvSpPr>
        <p:spPr>
          <a:xfrm>
            <a:off x="643052" y="1385077"/>
            <a:ext cx="54529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bravais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-lattice index     =            2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lattice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parameter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 =      10.2000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a.u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unit-cell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volume          =     265.3020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a.u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.)^3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=            2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=            1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    =         8.00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Kohn-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Sham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            8</a:t>
            </a:r>
          </a:p>
        </p:txBody>
      </p:sp>
    </p:spTree>
    <p:extLst>
      <p:ext uri="{BB962C8B-B14F-4D97-AF65-F5344CB8AC3E}">
        <p14:creationId xmlns:p14="http://schemas.microsoft.com/office/powerpoint/2010/main" val="3700766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3B413-06E7-5971-E117-837149D8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5EAF1DE-1B33-16F4-0BA6-386322F145F1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01B0126-249F-C3D0-56A2-D78AC538CC86}"/>
              </a:ext>
            </a:extLst>
          </p:cNvPr>
          <p:cNvSpPr txBox="1"/>
          <p:nvPr/>
        </p:nvSpPr>
        <p:spPr>
          <a:xfrm>
            <a:off x="613318" y="776540"/>
            <a:ext cx="464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file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37A87D82-7862-4FB5-4A3B-2B2B4EE5FA9D}"/>
              </a:ext>
            </a:extLst>
          </p:cNvPr>
          <p:cNvCxnSpPr/>
          <p:nvPr/>
        </p:nvCxnSpPr>
        <p:spPr>
          <a:xfrm>
            <a:off x="5583043" y="2683161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2335E00-3E16-7672-17DD-9C92DE0E4F22}"/>
              </a:ext>
            </a:extLst>
          </p:cNvPr>
          <p:cNvSpPr txBox="1"/>
          <p:nvPr/>
        </p:nvSpPr>
        <p:spPr>
          <a:xfrm>
            <a:off x="6187510" y="2554628"/>
            <a:ext cx="473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Increased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number</a:t>
            </a:r>
            <a:r>
              <a:rPr lang="it-IT" sz="1400" dirty="0">
                <a:solidFill>
                  <a:srgbClr val="C00000"/>
                </a:solidFill>
              </a:rPr>
              <a:t> of KS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including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endParaRPr lang="it-IT" sz="1400" dirty="0">
              <a:solidFill>
                <a:srgbClr val="C00000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0463BC8-69D0-9C8F-CE6B-2AAE28212A5C}"/>
              </a:ext>
            </a:extLst>
          </p:cNvPr>
          <p:cNvSpPr/>
          <p:nvPr/>
        </p:nvSpPr>
        <p:spPr>
          <a:xfrm>
            <a:off x="1035571" y="2458413"/>
            <a:ext cx="4302145" cy="40399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412BCCD5-9B89-734F-DF55-5AB440DCE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A36C3E-E39D-AC55-8AA0-E773BF8CB5C4}"/>
              </a:ext>
            </a:extLst>
          </p:cNvPr>
          <p:cNvSpPr txBox="1"/>
          <p:nvPr/>
        </p:nvSpPr>
        <p:spPr>
          <a:xfrm>
            <a:off x="643052" y="1385077"/>
            <a:ext cx="52224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bravais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-lattice index     =            2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lattice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parameter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 =      10.2000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a.u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unit-cell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volume          =     265.3020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a.u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.)^3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=            2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=            1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    =         8.00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of Kohn-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Sham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            8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760962-3D01-BFE8-C572-9C1F1785E20D}"/>
              </a:ext>
            </a:extLst>
          </p:cNvPr>
          <p:cNvSpPr txBox="1"/>
          <p:nvPr/>
        </p:nvSpPr>
        <p:spPr>
          <a:xfrm>
            <a:off x="817750" y="3491679"/>
            <a:ext cx="88763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---------------------------------2CHEM----------------------------------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You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are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performing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constrained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density-functional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perturbation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theory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employing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two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chemical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potentials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one for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and one for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holes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Please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refer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to: 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Giovanni Marini, Matteo Calandra 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Lattice dynamics of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photoexcited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insulators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constrained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density-functional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perturbation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theory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Phys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Rev. B 104, 144103 (2021)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doi:10.1103/PhysRevB.104.144103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The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conduction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manifold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constituted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by  4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bands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0.1000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electrons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are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placed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 the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conduction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manifold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---------------------------------2CHEM----------------------------------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93DB056-7CC9-F393-20FD-302C21E6DC26}"/>
              </a:ext>
            </a:extLst>
          </p:cNvPr>
          <p:cNvSpPr/>
          <p:nvPr/>
        </p:nvSpPr>
        <p:spPr>
          <a:xfrm>
            <a:off x="953796" y="3773712"/>
            <a:ext cx="6889227" cy="40073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D02ED2F-0002-2C7C-A94A-077768682894}"/>
              </a:ext>
            </a:extLst>
          </p:cNvPr>
          <p:cNvSpPr/>
          <p:nvPr/>
        </p:nvSpPr>
        <p:spPr>
          <a:xfrm>
            <a:off x="953796" y="5472923"/>
            <a:ext cx="6889227" cy="40073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5CEC4EA-3C25-CE96-692E-A844938BE748}"/>
              </a:ext>
            </a:extLst>
          </p:cNvPr>
          <p:cNvCxnSpPr/>
          <p:nvPr/>
        </p:nvCxnSpPr>
        <p:spPr>
          <a:xfrm>
            <a:off x="8032595" y="5612866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277C75F-FBB4-7722-2955-12F673B04A29}"/>
              </a:ext>
            </a:extLst>
          </p:cNvPr>
          <p:cNvSpPr txBox="1"/>
          <p:nvPr/>
        </p:nvSpPr>
        <p:spPr>
          <a:xfrm>
            <a:off x="8637062" y="5484333"/>
            <a:ext cx="321812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Number</a:t>
            </a:r>
            <a:r>
              <a:rPr lang="it-IT" sz="1400" dirty="0">
                <a:solidFill>
                  <a:srgbClr val="C00000"/>
                </a:solidFill>
              </a:rPr>
              <a:t> of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band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r>
              <a:rPr lang="it-IT" sz="1400" dirty="0">
                <a:solidFill>
                  <a:srgbClr val="C00000"/>
                </a:solidFill>
              </a:rPr>
              <a:t> and</a:t>
            </a:r>
          </a:p>
          <a:p>
            <a:r>
              <a:rPr lang="it-IT" sz="1400" dirty="0" err="1">
                <a:solidFill>
                  <a:srgbClr val="C00000"/>
                </a:solidFill>
              </a:rPr>
              <a:t>Number</a:t>
            </a:r>
            <a:r>
              <a:rPr lang="it-IT" sz="1400" dirty="0">
                <a:solidFill>
                  <a:srgbClr val="C00000"/>
                </a:solidFill>
              </a:rPr>
              <a:t> of </a:t>
            </a:r>
            <a:r>
              <a:rPr lang="it-IT" sz="1400" dirty="0" err="1">
                <a:solidFill>
                  <a:srgbClr val="C00000"/>
                </a:solidFill>
              </a:rPr>
              <a:t>photoexcited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electrons</a:t>
            </a:r>
            <a:endParaRPr lang="it-IT" sz="1400" dirty="0">
              <a:solidFill>
                <a:srgbClr val="C00000"/>
              </a:solidFill>
            </a:endParaRPr>
          </a:p>
          <a:p>
            <a:endParaRPr lang="it-IT" sz="1400" dirty="0">
              <a:solidFill>
                <a:srgbClr val="C00000"/>
              </a:solidFill>
            </a:endParaRP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62F4CE13-6DE7-8B9D-552D-7CAD64308687}"/>
              </a:ext>
            </a:extLst>
          </p:cNvPr>
          <p:cNvCxnSpPr/>
          <p:nvPr/>
        </p:nvCxnSpPr>
        <p:spPr>
          <a:xfrm>
            <a:off x="8032595" y="5873661"/>
            <a:ext cx="512956" cy="0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77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4EA1-54EC-CC44-4394-89BFC70F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C7EC95C-1C54-2AF2-8AE5-8603B2806A5B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28BC291-1953-68A3-B124-4E2CC172B462}"/>
              </a:ext>
            </a:extLst>
          </p:cNvPr>
          <p:cNvSpPr txBox="1"/>
          <p:nvPr/>
        </p:nvSpPr>
        <p:spPr>
          <a:xfrm>
            <a:off x="613318" y="776540"/>
            <a:ext cx="464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file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EFB5002-E250-1DEF-E5EC-5965B3C8F02B}"/>
              </a:ext>
            </a:extLst>
          </p:cNvPr>
          <p:cNvSpPr txBox="1"/>
          <p:nvPr/>
        </p:nvSpPr>
        <p:spPr>
          <a:xfrm>
            <a:off x="7769742" y="2123214"/>
            <a:ext cx="40543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Note the </a:t>
            </a:r>
            <a:r>
              <a:rPr lang="it-IT" sz="1400" dirty="0" err="1">
                <a:solidFill>
                  <a:srgbClr val="C00000"/>
                </a:solidFill>
              </a:rPr>
              <a:t>appearance</a:t>
            </a:r>
            <a:r>
              <a:rPr lang="it-IT" sz="1400" dirty="0">
                <a:solidFill>
                  <a:srgbClr val="C00000"/>
                </a:solidFill>
              </a:rPr>
              <a:t> of a non-zero stress </a:t>
            </a:r>
            <a:r>
              <a:rPr lang="it-IT" sz="1400" dirty="0" err="1">
                <a:solidFill>
                  <a:srgbClr val="C00000"/>
                </a:solidFill>
              </a:rPr>
              <a:t>at</a:t>
            </a:r>
            <a:r>
              <a:rPr lang="it-IT" sz="1400" dirty="0">
                <a:solidFill>
                  <a:srgbClr val="C00000"/>
                </a:solidFill>
              </a:rPr>
              <a:t> the </a:t>
            </a:r>
          </a:p>
          <a:p>
            <a:r>
              <a:rPr lang="it-IT" sz="1400" dirty="0">
                <a:solidFill>
                  <a:srgbClr val="C00000"/>
                </a:solidFill>
              </a:rPr>
              <a:t>first </a:t>
            </a:r>
            <a:r>
              <a:rPr lang="it-IT" sz="1400" dirty="0" err="1">
                <a:solidFill>
                  <a:srgbClr val="C00000"/>
                </a:solidFill>
              </a:rPr>
              <a:t>iteration</a:t>
            </a:r>
            <a:r>
              <a:rPr lang="it-IT" sz="1400" dirty="0">
                <a:solidFill>
                  <a:srgbClr val="C00000"/>
                </a:solidFill>
              </a:rPr>
              <a:t> due to the </a:t>
            </a:r>
            <a:r>
              <a:rPr lang="it-IT" sz="1400" dirty="0" err="1">
                <a:solidFill>
                  <a:srgbClr val="C00000"/>
                </a:solidFill>
              </a:rPr>
              <a:t>presence</a:t>
            </a:r>
            <a:r>
              <a:rPr lang="it-IT" sz="1400" dirty="0">
                <a:solidFill>
                  <a:srgbClr val="C00000"/>
                </a:solidFill>
              </a:rPr>
              <a:t> of </a:t>
            </a:r>
            <a:r>
              <a:rPr lang="it-IT" sz="1400" dirty="0" err="1">
                <a:solidFill>
                  <a:srgbClr val="C00000"/>
                </a:solidFill>
              </a:rPr>
              <a:t>photoexcited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</a:p>
          <a:p>
            <a:r>
              <a:rPr lang="it-IT" sz="1400" dirty="0">
                <a:solidFill>
                  <a:srgbClr val="C00000"/>
                </a:solidFill>
              </a:rPr>
              <a:t>carriers.</a:t>
            </a:r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D0B298AE-902F-01CE-A2F6-203B29DD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1340AA1-CA19-2815-69B0-C82681D80C05}"/>
              </a:ext>
            </a:extLst>
          </p:cNvPr>
          <p:cNvSpPr txBox="1"/>
          <p:nvPr/>
        </p:nvSpPr>
        <p:spPr>
          <a:xfrm>
            <a:off x="551293" y="1515356"/>
            <a:ext cx="7486185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Computing stress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Cartesian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and pressure</a:t>
            </a:r>
            <a:b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total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stress 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bohr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**3)                  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kbar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   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       -4.26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-0.00002894   0.00000000   0.00000000           -4.26        0.00        0.00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-0.00000000  -0.00002894   0.00000000           -0.00       -4.26        0.00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0.00000000   0.00000000  -0.00002894            0.00        0.00       -4.26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2647AFC-72E1-67AF-AFC4-8D51C2BFCE9C}"/>
              </a:ext>
            </a:extLst>
          </p:cNvPr>
          <p:cNvSpPr/>
          <p:nvPr/>
        </p:nvSpPr>
        <p:spPr>
          <a:xfrm>
            <a:off x="715904" y="1515356"/>
            <a:ext cx="6889227" cy="1215716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9343F33-2501-4FDC-E297-25B2AE9E2ECA}"/>
              </a:ext>
            </a:extLst>
          </p:cNvPr>
          <p:cNvSpPr txBox="1"/>
          <p:nvPr/>
        </p:nvSpPr>
        <p:spPr>
          <a:xfrm>
            <a:off x="613318" y="1159853"/>
            <a:ext cx="14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First </a:t>
            </a:r>
            <a:r>
              <a:rPr lang="it-IT" dirty="0" err="1">
                <a:solidFill>
                  <a:srgbClr val="7030A0"/>
                </a:solidFill>
              </a:rPr>
              <a:t>iteration</a:t>
            </a:r>
            <a:endParaRPr lang="it-IT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633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E6FD2-86C7-98D1-4050-BBDA1ABB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4A9C22C-23E0-7CD7-6613-BA195F2D0CB5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Example: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Silicon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CB2D16-DB6D-993F-BADE-BB1C7DC05ED4}"/>
              </a:ext>
            </a:extLst>
          </p:cNvPr>
          <p:cNvSpPr txBox="1"/>
          <p:nvPr/>
        </p:nvSpPr>
        <p:spPr>
          <a:xfrm>
            <a:off x="613318" y="776540"/>
            <a:ext cx="464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file 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PW_Si_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sz="1600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it-IT" sz="16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vc-relax_twochem.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A1C265E-37FE-FB15-938A-2BECED49165E}"/>
              </a:ext>
            </a:extLst>
          </p:cNvPr>
          <p:cNvSpPr txBox="1"/>
          <p:nvPr/>
        </p:nvSpPr>
        <p:spPr>
          <a:xfrm>
            <a:off x="7821781" y="3798703"/>
            <a:ext cx="3198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Structural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minimization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accomplished</a:t>
            </a:r>
            <a:r>
              <a:rPr lang="it-IT" sz="1400" dirty="0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id="{F7AE0863-B16C-E5EE-CEED-58A394AF6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1" y="494942"/>
            <a:ext cx="1298396" cy="117874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F256A1-3BC9-E0B3-16CB-A70021FD069B}"/>
              </a:ext>
            </a:extLst>
          </p:cNvPr>
          <p:cNvSpPr txBox="1"/>
          <p:nvPr/>
        </p:nvSpPr>
        <p:spPr>
          <a:xfrm>
            <a:off x="551293" y="1515356"/>
            <a:ext cx="7486185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Computing stress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Cartesian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and pressure</a:t>
            </a:r>
            <a:b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total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stress 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bohr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**3)                  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kbar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   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       -4.26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-0.00002894   0.00000000   0.00000000           -4.26        0.00        0.00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-0.00000000  -0.00002894   0.00000000           -0.00       -4.26        0.00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0.00000000   0.00000000  -0.00002894            0.00        0.00       -4.26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488B29A-EB7B-BFA4-54E7-6B9912F80C11}"/>
              </a:ext>
            </a:extLst>
          </p:cNvPr>
          <p:cNvSpPr/>
          <p:nvPr/>
        </p:nvSpPr>
        <p:spPr>
          <a:xfrm>
            <a:off x="613318" y="3239876"/>
            <a:ext cx="6918638" cy="1373453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B61DD36-1218-C17F-895A-D067929D7C5C}"/>
              </a:ext>
            </a:extLst>
          </p:cNvPr>
          <p:cNvSpPr txBox="1"/>
          <p:nvPr/>
        </p:nvSpPr>
        <p:spPr>
          <a:xfrm>
            <a:off x="453482" y="3148634"/>
            <a:ext cx="715165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Computing stress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Cartesian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and pressure</a:t>
            </a:r>
          </a:p>
          <a:p>
            <a:b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total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stress 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bohr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**3)                   (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kbar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    </a:t>
            </a:r>
            <a:r>
              <a:rPr lang="it-IT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       -0.38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-0.00000259   0.00000000  -0.00000000           -0.38        0.00       -0.00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0.00000000  -0.00000259  -0.00000000            0.00       -0.38       -0.00</a:t>
            </a:r>
          </a:p>
          <a:p>
            <a:r>
              <a:rPr lang="it-IT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-0.00000000  -0.00000000  -0.00000259           -0.00       -0.00       -0.38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6B4E57-C221-C268-EA82-3D43F1183B32}"/>
              </a:ext>
            </a:extLst>
          </p:cNvPr>
          <p:cNvSpPr txBox="1"/>
          <p:nvPr/>
        </p:nvSpPr>
        <p:spPr>
          <a:xfrm>
            <a:off x="613318" y="1159853"/>
            <a:ext cx="14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7030A0"/>
                </a:solidFill>
              </a:rPr>
              <a:t>First </a:t>
            </a:r>
            <a:r>
              <a:rPr lang="it-IT" dirty="0" err="1">
                <a:solidFill>
                  <a:srgbClr val="7030A0"/>
                </a:solidFill>
              </a:rPr>
              <a:t>iteration</a:t>
            </a:r>
            <a:endParaRPr lang="it-IT" dirty="0">
              <a:solidFill>
                <a:srgbClr val="7030A0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569F093-8EA8-64C3-3B0A-5FDC28D8599B}"/>
              </a:ext>
            </a:extLst>
          </p:cNvPr>
          <p:cNvSpPr txBox="1"/>
          <p:nvPr/>
        </p:nvSpPr>
        <p:spPr>
          <a:xfrm>
            <a:off x="613317" y="2808988"/>
            <a:ext cx="1538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7030A0"/>
                </a:solidFill>
              </a:rPr>
              <a:t>Final</a:t>
            </a:r>
            <a:r>
              <a:rPr lang="it-IT" dirty="0">
                <a:solidFill>
                  <a:srgbClr val="7030A0"/>
                </a:solidFill>
              </a:rPr>
              <a:t> </a:t>
            </a:r>
            <a:r>
              <a:rPr lang="it-IT" dirty="0" err="1">
                <a:solidFill>
                  <a:srgbClr val="7030A0"/>
                </a:solidFill>
              </a:rPr>
              <a:t>iteration</a:t>
            </a:r>
            <a:endParaRPr lang="it-IT" dirty="0">
              <a:solidFill>
                <a:srgbClr val="7030A0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CA83D70-3E87-8AEF-1428-A5602B28B183}"/>
              </a:ext>
            </a:extLst>
          </p:cNvPr>
          <p:cNvSpPr txBox="1"/>
          <p:nvPr/>
        </p:nvSpPr>
        <p:spPr>
          <a:xfrm>
            <a:off x="551293" y="4994202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CELL_PARAMETERS (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 10.20000000)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-0.499316644   0.000000000   0.499316644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0.000000000   0.499316644   0.499316644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-0.499316644   0.499316644  -0.000000000</a:t>
            </a:r>
          </a:p>
          <a:p>
            <a:b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ATOMIC_POSITIONS (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alat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              -0.0000000000       -0.0000000000        0.0000000000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               0.2496583221        0.2496583221        0.2496583221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End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final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coordinates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46C2D73-698E-CB45-F144-4CA43B45977B}"/>
              </a:ext>
            </a:extLst>
          </p:cNvPr>
          <p:cNvSpPr txBox="1"/>
          <p:nvPr/>
        </p:nvSpPr>
        <p:spPr>
          <a:xfrm>
            <a:off x="551293" y="4580887"/>
            <a:ext cx="221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7030A0"/>
                </a:solidFill>
              </a:rPr>
              <a:t>Converged</a:t>
            </a:r>
            <a:r>
              <a:rPr lang="it-IT" dirty="0">
                <a:solidFill>
                  <a:srgbClr val="7030A0"/>
                </a:solidFill>
              </a:rPr>
              <a:t> </a:t>
            </a:r>
            <a:r>
              <a:rPr lang="it-IT" dirty="0" err="1">
                <a:solidFill>
                  <a:srgbClr val="7030A0"/>
                </a:solidFill>
              </a:rPr>
              <a:t>structure</a:t>
            </a:r>
            <a:endParaRPr lang="it-IT" dirty="0">
              <a:solidFill>
                <a:srgbClr val="7030A0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FB7BE72-31C7-4F31-4F08-E39B53434F22}"/>
              </a:ext>
            </a:extLst>
          </p:cNvPr>
          <p:cNvSpPr txBox="1"/>
          <p:nvPr/>
        </p:nvSpPr>
        <p:spPr>
          <a:xfrm>
            <a:off x="6710535" y="52507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Initial</a:t>
            </a:r>
            <a:r>
              <a:rPr lang="it-IT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(Ground state) a= 2.6988 </a:t>
            </a:r>
            <a:r>
              <a:rPr lang="it-IT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Å</a:t>
            </a:r>
            <a:endParaRPr lang="it-IT" dirty="0">
              <a:solidFill>
                <a:srgbClr val="C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Converged</a:t>
            </a:r>
            <a:r>
              <a:rPr lang="it-IT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Exc</a:t>
            </a:r>
            <a:r>
              <a:rPr lang="it-IT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. State) a= 2.695114 </a:t>
            </a:r>
            <a:r>
              <a:rPr lang="it-IT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Å</a:t>
            </a:r>
            <a:endParaRPr lang="it-IT" dirty="0">
              <a:solidFill>
                <a:srgbClr val="C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04DCEB41-6742-4F89-C376-ADC4EAEC1369}"/>
              </a:ext>
            </a:extLst>
          </p:cNvPr>
          <p:cNvSpPr/>
          <p:nvPr/>
        </p:nvSpPr>
        <p:spPr>
          <a:xfrm>
            <a:off x="488051" y="5012348"/>
            <a:ext cx="6096000" cy="1613070"/>
          </a:xfrm>
          <a:prstGeom prst="rect">
            <a:avLst/>
          </a:prstGeom>
          <a:solidFill>
            <a:schemeClr val="tx2">
              <a:lumMod val="10000"/>
              <a:lumOff val="9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45561E4-AC13-EF91-0973-2F692D532687}"/>
              </a:ext>
            </a:extLst>
          </p:cNvPr>
          <p:cNvSpPr txBox="1"/>
          <p:nvPr/>
        </p:nvSpPr>
        <p:spPr>
          <a:xfrm>
            <a:off x="6839415" y="6192644"/>
            <a:ext cx="337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Si </a:t>
            </a:r>
            <a:r>
              <a:rPr lang="it-IT" dirty="0" err="1">
                <a:solidFill>
                  <a:srgbClr val="C00000"/>
                </a:solidFill>
              </a:rPr>
              <a:t>contracts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when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photoexcited</a:t>
            </a:r>
            <a:r>
              <a:rPr lang="it-IT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514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3">
            <a:extLst>
              <a:ext uri="{FF2B5EF4-FFF2-40B4-BE49-F238E27FC236}">
                <a16:creationId xmlns:a16="http://schemas.microsoft.com/office/drawing/2014/main" id="{9B77F082-355F-CD77-0035-23C6F5A48131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Structural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Optimization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Homework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D935843-B46D-4AF9-1366-BE7E42F5727C}"/>
              </a:ext>
            </a:extLst>
          </p:cNvPr>
          <p:cNvSpPr txBox="1"/>
          <p:nvPr/>
        </p:nvSpPr>
        <p:spPr>
          <a:xfrm>
            <a:off x="613318" y="776540"/>
            <a:ext cx="3815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reproduce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following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ED8A0F3-8B0D-C004-296C-477CFAE83A53}"/>
              </a:ext>
            </a:extLst>
          </p:cNvPr>
          <p:cNvSpPr/>
          <p:nvPr/>
        </p:nvSpPr>
        <p:spPr>
          <a:xfrm>
            <a:off x="4835072" y="818859"/>
            <a:ext cx="46549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rgbClr val="555555"/>
                </a:solidFill>
              </a:rPr>
              <a:t>Giovanni Marini and Matteo Calandra,   Phys. </a:t>
            </a:r>
            <a:r>
              <a:rPr lang="fr-FR" sz="1050" dirty="0" err="1">
                <a:solidFill>
                  <a:srgbClr val="555555"/>
                </a:solidFill>
              </a:rPr>
              <a:t>Rev</a:t>
            </a:r>
            <a:r>
              <a:rPr lang="fr-FR" sz="1050" dirty="0">
                <a:solidFill>
                  <a:srgbClr val="555555"/>
                </a:solidFill>
              </a:rPr>
              <a:t>. B </a:t>
            </a:r>
            <a:r>
              <a:rPr lang="fr-FR" sz="1050" b="1" dirty="0">
                <a:solidFill>
                  <a:srgbClr val="555555"/>
                </a:solidFill>
              </a:rPr>
              <a:t>104</a:t>
            </a:r>
            <a:r>
              <a:rPr lang="fr-FR" sz="1050" dirty="0">
                <a:solidFill>
                  <a:srgbClr val="555555"/>
                </a:solidFill>
              </a:rPr>
              <a:t>, 144103 (2021)</a:t>
            </a:r>
          </a:p>
        </p:txBody>
      </p:sp>
      <p:pic>
        <p:nvPicPr>
          <p:cNvPr id="12" name="Immagine 11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B8EE287E-92F3-9C4E-329E-22AD0AD3C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767755"/>
            <a:ext cx="7772400" cy="39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67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0995073-7CA8-CE8B-B3AA-916A40DF11E4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Electronic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structure,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ground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state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v.s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.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silicon</a:t>
            </a:r>
            <a:endParaRPr lang="fr-FR" sz="20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2EF6F8B-E062-F26E-58AA-591EF3EAEBA7}"/>
              </a:ext>
            </a:extLst>
          </p:cNvPr>
          <p:cNvSpPr txBox="1"/>
          <p:nvPr/>
        </p:nvSpPr>
        <p:spPr>
          <a:xfrm>
            <a:off x="613318" y="776540"/>
            <a:ext cx="2653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PW_Si_Bands_Excited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</a:p>
          <a:p>
            <a:endParaRPr lang="it-IT" sz="1600" dirty="0"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700E709-7B5D-D5B7-094C-D9E8C7296634}"/>
              </a:ext>
            </a:extLst>
          </p:cNvPr>
          <p:cNvSpPr txBox="1"/>
          <p:nvPr/>
        </p:nvSpPr>
        <p:spPr>
          <a:xfrm>
            <a:off x="1705851" y="1505163"/>
            <a:ext cx="845455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electronic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obtained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iusing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procedure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usual</a:t>
            </a:r>
            <a:endParaRPr lang="it-IT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new flags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studied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it-IT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it-IT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mpirun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24 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pw.x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npool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4 -in  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scf_twochem.in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&gt; 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scf_twochem.out</a:t>
            </a:r>
            <a:endParaRPr lang="it-IT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mpirun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24 </a:t>
            </a:r>
            <a:r>
              <a:rPr lang="it-IT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pw.x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npool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4 -in  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nscf_twochem.in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&gt; 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nscf_twochem.out</a:t>
            </a:r>
            <a:endParaRPr lang="it-IT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mpirun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24 </a:t>
            </a:r>
            <a:r>
              <a:rPr lang="it-IT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bands.x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npool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4 -in 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bands.in</a:t>
            </a:r>
            <a:r>
              <a:rPr lang="it-IT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it-IT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bands.out</a:t>
            </a:r>
            <a:endParaRPr lang="it-IT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it-IT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18C74B-95F4-C739-1DC2-6E6B63266583}"/>
              </a:ext>
            </a:extLst>
          </p:cNvPr>
          <p:cNvSpPr txBox="1"/>
          <p:nvPr/>
        </p:nvSpPr>
        <p:spPr>
          <a:xfrm>
            <a:off x="1552322" y="3536956"/>
            <a:ext cx="55939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rgbClr val="000000"/>
                </a:solidFill>
                <a:latin typeface="Menlo" panose="020B0609030804020204" pitchFamily="49" charset="0"/>
              </a:rPr>
              <a:t>...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it-IT" sz="1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the Fermi energy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  5.8489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ev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the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conduction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Fermi energy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  7.0813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ev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!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total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energy              =     -15.84463702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endParaRPr lang="it-IT" sz="1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200" dirty="0">
                <a:solidFill>
                  <a:srgbClr val="000000"/>
                </a:solidFill>
                <a:latin typeface="Menlo" panose="020B0609030804020204" pitchFamily="49" charset="0"/>
              </a:rPr>
              <a:t>...</a:t>
            </a:r>
            <a:endParaRPr lang="it-IT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E77B081-9FAC-F7DB-E631-3E2F35F71B6D}"/>
              </a:ext>
            </a:extLst>
          </p:cNvPr>
          <p:cNvSpPr/>
          <p:nvPr/>
        </p:nvSpPr>
        <p:spPr>
          <a:xfrm>
            <a:off x="1552322" y="3820042"/>
            <a:ext cx="6096000" cy="617487"/>
          </a:xfrm>
          <a:prstGeom prst="rect">
            <a:avLst/>
          </a:prstGeom>
          <a:solidFill>
            <a:schemeClr val="tx2">
              <a:lumMod val="10000"/>
              <a:lumOff val="9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5973A83-93C8-AAFC-377B-8E191E99B04A}"/>
              </a:ext>
            </a:extLst>
          </p:cNvPr>
          <p:cNvSpPr txBox="1"/>
          <p:nvPr/>
        </p:nvSpPr>
        <p:spPr>
          <a:xfrm>
            <a:off x="7911427" y="3974896"/>
            <a:ext cx="3475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Valence and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band fermi </a:t>
            </a:r>
            <a:r>
              <a:rPr lang="it-IT" sz="1400" dirty="0" err="1">
                <a:solidFill>
                  <a:srgbClr val="C00000"/>
                </a:solidFill>
              </a:rPr>
              <a:t>levels</a:t>
            </a:r>
            <a:r>
              <a:rPr lang="it-IT" sz="1400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5394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85661-3249-C19B-959A-D96052E1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1A3CB9B-C658-0CE7-5BCC-90C1E9F21E50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Electronic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structure,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ground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state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v.s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.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silicon</a:t>
            </a:r>
            <a:endParaRPr lang="fr-FR" sz="20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pic>
        <p:nvPicPr>
          <p:cNvPr id="3" name="Immagine 2" descr="Immagine che contiene diagramma, schizzo, linea, origami&#10;&#10;Descrizione generata automaticamente">
            <a:extLst>
              <a:ext uri="{FF2B5EF4-FFF2-40B4-BE49-F238E27FC236}">
                <a16:creationId xmlns:a16="http://schemas.microsoft.com/office/drawing/2014/main" id="{A091DE31-252F-EB58-A297-757B7E2CB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25" y="1669472"/>
            <a:ext cx="4779243" cy="3693051"/>
          </a:xfrm>
          <a:prstGeom prst="rect">
            <a:avLst/>
          </a:prstGeom>
        </p:spPr>
      </p:pic>
      <p:pic>
        <p:nvPicPr>
          <p:cNvPr id="11" name="Immagine 10" descr="Immagine che contiene diagramma, linea, schizzo, Diagramma&#10;&#10;Descrizione generata automaticamente">
            <a:extLst>
              <a:ext uri="{FF2B5EF4-FFF2-40B4-BE49-F238E27FC236}">
                <a16:creationId xmlns:a16="http://schemas.microsoft.com/office/drawing/2014/main" id="{1265623D-7A3C-22D5-4CCA-F16207115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497" y="1669473"/>
            <a:ext cx="4799810" cy="370894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AD74CEE-1690-B445-28D4-C3DF99D7BA85}"/>
              </a:ext>
            </a:extLst>
          </p:cNvPr>
          <p:cNvSpPr txBox="1"/>
          <p:nvPr/>
        </p:nvSpPr>
        <p:spPr>
          <a:xfrm>
            <a:off x="2446895" y="1495477"/>
            <a:ext cx="1194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Ground state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2207047-51D1-9AF0-EE79-A2441BDE548C}"/>
              </a:ext>
            </a:extLst>
          </p:cNvPr>
          <p:cNvSpPr txBox="1"/>
          <p:nvPr/>
        </p:nvSpPr>
        <p:spPr>
          <a:xfrm>
            <a:off x="8265251" y="1515583"/>
            <a:ext cx="15292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Photexcited</a:t>
            </a:r>
            <a:r>
              <a:rPr lang="it-IT" sz="1400" dirty="0">
                <a:solidFill>
                  <a:srgbClr val="C00000"/>
                </a:solidFill>
              </a:rPr>
              <a:t> state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3666B25-4EE0-6D60-89F7-369509B8D52D}"/>
              </a:ext>
            </a:extLst>
          </p:cNvPr>
          <p:cNvSpPr txBox="1"/>
          <p:nvPr/>
        </p:nvSpPr>
        <p:spPr>
          <a:xfrm>
            <a:off x="1832845" y="5643793"/>
            <a:ext cx="85263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dirty="0">
                <a:solidFill>
                  <a:srgbClr val="C00000"/>
                </a:solidFill>
              </a:rPr>
              <a:t>Note the </a:t>
            </a:r>
            <a:r>
              <a:rPr lang="it-IT" sz="1400" dirty="0" err="1">
                <a:solidFill>
                  <a:srgbClr val="C00000"/>
                </a:solidFill>
              </a:rPr>
              <a:t>very</a:t>
            </a:r>
            <a:r>
              <a:rPr lang="it-IT" sz="1400" dirty="0">
                <a:solidFill>
                  <a:srgbClr val="C00000"/>
                </a:solidFill>
              </a:rPr>
              <a:t> small </a:t>
            </a:r>
            <a:r>
              <a:rPr lang="it-IT" sz="1400" dirty="0" err="1">
                <a:solidFill>
                  <a:srgbClr val="C00000"/>
                </a:solidFill>
              </a:rPr>
              <a:t>holes</a:t>
            </a:r>
            <a:r>
              <a:rPr lang="it-IT" sz="1400" dirty="0">
                <a:solidFill>
                  <a:srgbClr val="C00000"/>
                </a:solidFill>
              </a:rPr>
              <a:t> and </a:t>
            </a:r>
            <a:r>
              <a:rPr lang="it-IT" sz="1400" dirty="0" err="1">
                <a:solidFill>
                  <a:srgbClr val="C00000"/>
                </a:solidFill>
              </a:rPr>
              <a:t>electrons</a:t>
            </a:r>
            <a:r>
              <a:rPr lang="it-IT" sz="1400" dirty="0">
                <a:solidFill>
                  <a:srgbClr val="C00000"/>
                </a:solidFill>
              </a:rPr>
              <a:t> Fermi </a:t>
            </a:r>
            <a:r>
              <a:rPr lang="it-IT" sz="1400" dirty="0" err="1">
                <a:solidFill>
                  <a:srgbClr val="C00000"/>
                </a:solidFill>
              </a:rPr>
              <a:t>surfaces</a:t>
            </a:r>
            <a:r>
              <a:rPr lang="it-IT" sz="1400" dirty="0">
                <a:solidFill>
                  <a:srgbClr val="C00000"/>
                </a:solidFill>
              </a:rPr>
              <a:t> in the </a:t>
            </a:r>
            <a:r>
              <a:rPr lang="it-IT" sz="1400" dirty="0" err="1">
                <a:solidFill>
                  <a:srgbClr val="C00000"/>
                </a:solidFill>
              </a:rPr>
              <a:t>photoexcited</a:t>
            </a:r>
            <a:r>
              <a:rPr lang="it-IT" sz="1400" dirty="0">
                <a:solidFill>
                  <a:srgbClr val="C00000"/>
                </a:solidFill>
              </a:rPr>
              <a:t> state!</a:t>
            </a:r>
          </a:p>
          <a:p>
            <a:pPr algn="ctr"/>
            <a:endParaRPr lang="it-IT" sz="1400" dirty="0">
              <a:solidFill>
                <a:srgbClr val="C00000"/>
              </a:solidFill>
            </a:endParaRPr>
          </a:p>
          <a:p>
            <a:pPr algn="ctr"/>
            <a:r>
              <a:rPr lang="it-IT" sz="1400" dirty="0" err="1">
                <a:solidFill>
                  <a:srgbClr val="C00000"/>
                </a:solidFill>
              </a:rPr>
              <a:t>Generally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very</a:t>
            </a:r>
            <a:r>
              <a:rPr lang="it-IT" sz="1400" dirty="0">
                <a:solidFill>
                  <a:srgbClr val="C00000"/>
                </a:solidFill>
              </a:rPr>
              <a:t> large electron and </a:t>
            </a:r>
            <a:r>
              <a:rPr lang="it-IT" sz="1400" dirty="0" err="1">
                <a:solidFill>
                  <a:srgbClr val="C00000"/>
                </a:solidFill>
              </a:rPr>
              <a:t>phonon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momenta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grids</a:t>
            </a:r>
            <a:r>
              <a:rPr lang="it-IT" sz="1400" dirty="0">
                <a:solidFill>
                  <a:srgbClr val="C00000"/>
                </a:solidFill>
              </a:rPr>
              <a:t> are </a:t>
            </a:r>
            <a:r>
              <a:rPr lang="it-IT" sz="1400" dirty="0" err="1">
                <a:solidFill>
                  <a:srgbClr val="C00000"/>
                </a:solidFill>
              </a:rPr>
              <a:t>needed</a:t>
            </a:r>
            <a:r>
              <a:rPr lang="it-IT" sz="1400" dirty="0">
                <a:solidFill>
                  <a:srgbClr val="C00000"/>
                </a:solidFill>
              </a:rPr>
              <a:t> to converge </a:t>
            </a:r>
            <a:r>
              <a:rPr lang="it-IT" sz="1400" dirty="0" err="1">
                <a:solidFill>
                  <a:srgbClr val="C00000"/>
                </a:solidFill>
              </a:rPr>
              <a:t>photoexcited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calculations</a:t>
            </a:r>
            <a:r>
              <a:rPr lang="it-IT" sz="1400" dirty="0">
                <a:solidFill>
                  <a:srgbClr val="C00000"/>
                </a:solidFill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143685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2BA333E-6ED5-67A8-ACE3-46DD3102294B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cDFPT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phonon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calculation</a:t>
            </a:r>
            <a:endParaRPr lang="fr-FR" sz="20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F5788DA-E882-B8D0-66C0-ADA178E660C8}"/>
              </a:ext>
            </a:extLst>
          </p:cNvPr>
          <p:cNvSpPr txBox="1"/>
          <p:nvPr/>
        </p:nvSpPr>
        <p:spPr>
          <a:xfrm>
            <a:off x="806823" y="851664"/>
            <a:ext cx="10031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the flags in the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pw.x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scf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been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set for the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twochem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option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needed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phonon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3978C2F-E3C3-73C9-1A15-8251092B3888}"/>
              </a:ext>
            </a:extLst>
          </p:cNvPr>
          <p:cNvSpPr txBox="1"/>
          <p:nvPr/>
        </p:nvSpPr>
        <p:spPr>
          <a:xfrm>
            <a:off x="1246093" y="1748815"/>
            <a:ext cx="10497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mpirun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24 </a:t>
            </a:r>
            <a:r>
              <a:rPr lang="it-IT" dirty="0" err="1">
                <a:solidFill>
                  <a:srgbClr val="000000"/>
                </a:solidFill>
                <a:latin typeface="Menlo" panose="020B0609030804020204" pitchFamily="49" charset="0"/>
              </a:rPr>
              <a:t>pw.x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npool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4 -in 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scf_twochem.in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&gt;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scf_twochem.out</a:t>
            </a:r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mpirun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24 </a:t>
            </a:r>
            <a:r>
              <a:rPr lang="it-IT" dirty="0" err="1">
                <a:solidFill>
                  <a:srgbClr val="000000"/>
                </a:solidFill>
                <a:latin typeface="Menlo" panose="020B0609030804020204" pitchFamily="49" charset="0"/>
              </a:rPr>
              <a:t>ph.x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npool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4 -in 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ph_twochem.in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&gt;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ph_twochem.out</a:t>
            </a:r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130D2F0-D106-4C28-5418-2E2AD38ABEC4}"/>
              </a:ext>
            </a:extLst>
          </p:cNvPr>
          <p:cNvSpPr txBox="1"/>
          <p:nvPr/>
        </p:nvSpPr>
        <p:spPr>
          <a:xfrm>
            <a:off x="1246093" y="34290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si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inputph</a:t>
            </a:r>
            <a:endParaRPr lang="it-IT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amass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(1)= 28.086,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fildyn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='dynq1',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fildvscf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dvscf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',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outdir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='./',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alpha_mix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(1)=0.2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tr2_ph=1.0d-16,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trans=.</a:t>
            </a:r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., 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</a:p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0.0 0.0 0.0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082416B-531F-8781-EB88-132212475203}"/>
              </a:ext>
            </a:extLst>
          </p:cNvPr>
          <p:cNvSpPr txBox="1"/>
          <p:nvPr/>
        </p:nvSpPr>
        <p:spPr>
          <a:xfrm>
            <a:off x="806822" y="2796099"/>
            <a:ext cx="115106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phonon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input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ground state (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converge k and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points) and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options</a:t>
            </a:r>
          </a:p>
          <a:p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ground state in </a:t>
            </a:r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ph.x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still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</a:t>
            </a:r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excited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state.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8F20146-0D51-D9CC-8DA6-ED672A1D0429}"/>
              </a:ext>
            </a:extLst>
          </p:cNvPr>
          <p:cNvSpPr txBox="1"/>
          <p:nvPr/>
        </p:nvSpPr>
        <p:spPr>
          <a:xfrm>
            <a:off x="8574742" y="28185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PH_Si_Excited</a:t>
            </a:r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4442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1471-AB30-F038-2F86-B775D31F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29EFE43-F7E5-D27B-739B-FBB42DDD7227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cDFPT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phonon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calculation</a:t>
            </a:r>
            <a:endParaRPr lang="fr-FR" sz="20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A5CE0C6-46DC-2023-7A01-0777F9DF125A}"/>
              </a:ext>
            </a:extLst>
          </p:cNvPr>
          <p:cNvSpPr txBox="1"/>
          <p:nvPr/>
        </p:nvSpPr>
        <p:spPr>
          <a:xfrm>
            <a:off x="313765" y="1150726"/>
            <a:ext cx="82116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#  1: Fermi energy shift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valence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    0.0000E+00    -2.4489E-39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#  2: Fermi energy shift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valence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    -2.0961E-18     2.5102E-39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#  3: Fermi energy shift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valence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    -2.8912E-18    -4.8979E-40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#  1: Fermi energy shift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conduction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    1.8070E-20     0.0000E+00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#  2: Fermi energy shift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conduction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    -5.4210E-20     5.7397E-42</a:t>
            </a:r>
          </a:p>
          <a:p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Pert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 #  3: Fermi energy shift 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conduction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it-IT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Ry</a:t>
            </a:r>
            <a:r>
              <a:rPr lang="it-IT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    -3.6140E-20    -1.5306E-41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92AEC25-44DA-2071-A5CE-D405064C6E62}"/>
              </a:ext>
            </a:extLst>
          </p:cNvPr>
          <p:cNvSpPr txBox="1"/>
          <p:nvPr/>
        </p:nvSpPr>
        <p:spPr>
          <a:xfrm>
            <a:off x="806823" y="851664"/>
            <a:ext cx="1524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Ph.x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output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505406B-A3EC-0D04-381C-A71B482B12F6}"/>
              </a:ext>
            </a:extLst>
          </p:cNvPr>
          <p:cNvSpPr txBox="1"/>
          <p:nvPr/>
        </p:nvSpPr>
        <p:spPr>
          <a:xfrm>
            <a:off x="8402475" y="1735501"/>
            <a:ext cx="3038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At </a:t>
            </a:r>
            <a:r>
              <a:rPr lang="it-IT" sz="1400" dirty="0" err="1">
                <a:solidFill>
                  <a:srgbClr val="C00000"/>
                </a:solidFill>
              </a:rPr>
              <a:t>q</a:t>
            </a:r>
            <a:r>
              <a:rPr lang="it-IT" sz="1400" dirty="0">
                <a:solidFill>
                  <a:srgbClr val="C00000"/>
                </a:solidFill>
              </a:rPr>
              <a:t>=0 the Fermi shift </a:t>
            </a:r>
            <a:r>
              <a:rPr lang="it-IT" sz="1400" dirty="0" err="1">
                <a:solidFill>
                  <a:srgbClr val="C00000"/>
                </a:solidFill>
              </a:rPr>
              <a:t>occurs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both</a:t>
            </a:r>
            <a:r>
              <a:rPr lang="it-IT" sz="1400" dirty="0">
                <a:solidFill>
                  <a:srgbClr val="C00000"/>
                </a:solidFill>
              </a:rPr>
              <a:t> for</a:t>
            </a:r>
          </a:p>
          <a:p>
            <a:r>
              <a:rPr lang="it-IT" sz="1400" dirty="0">
                <a:solidFill>
                  <a:srgbClr val="C00000"/>
                </a:solidFill>
              </a:rPr>
              <a:t>Valence and </a:t>
            </a:r>
            <a:r>
              <a:rPr lang="it-IT" sz="1400" dirty="0" err="1">
                <a:solidFill>
                  <a:srgbClr val="C00000"/>
                </a:solidFill>
              </a:rPr>
              <a:t>conduction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states</a:t>
            </a:r>
            <a:r>
              <a:rPr lang="it-IT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614D14A-5D29-09D6-8CC7-ED1FCDA98E68}"/>
              </a:ext>
            </a:extLst>
          </p:cNvPr>
          <p:cNvSpPr txBox="1"/>
          <p:nvPr/>
        </p:nvSpPr>
        <p:spPr>
          <a:xfrm>
            <a:off x="806823" y="4137615"/>
            <a:ext cx="10083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C00000"/>
                </a:solidFill>
              </a:rPr>
              <a:t>WARNING  :  in espresso 7.5 a bug </a:t>
            </a:r>
            <a:r>
              <a:rPr lang="it-IT" dirty="0" err="1">
                <a:solidFill>
                  <a:srgbClr val="C00000"/>
                </a:solidFill>
              </a:rPr>
              <a:t>was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introduced</a:t>
            </a:r>
            <a:r>
              <a:rPr lang="it-IT" dirty="0">
                <a:solidFill>
                  <a:srgbClr val="C00000"/>
                </a:solidFill>
              </a:rPr>
              <a:t> for systems with non-zero fermi shifts.</a:t>
            </a:r>
          </a:p>
          <a:p>
            <a:pPr algn="ctr"/>
            <a:r>
              <a:rPr lang="it-IT" dirty="0">
                <a:solidFill>
                  <a:srgbClr val="C00000"/>
                </a:solidFill>
              </a:rPr>
              <a:t>The bug </a:t>
            </a:r>
            <a:r>
              <a:rPr lang="it-IT" dirty="0" err="1">
                <a:solidFill>
                  <a:srgbClr val="C00000"/>
                </a:solidFill>
              </a:rPr>
              <a:t>has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been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corrected</a:t>
            </a:r>
            <a:r>
              <a:rPr lang="it-IT" dirty="0">
                <a:solidFill>
                  <a:srgbClr val="C00000"/>
                </a:solidFill>
              </a:rPr>
              <a:t> in  </a:t>
            </a:r>
            <a:r>
              <a:rPr lang="it-IT" dirty="0" err="1">
                <a:solidFill>
                  <a:srgbClr val="C00000"/>
                </a:solidFill>
              </a:rPr>
              <a:t>version</a:t>
            </a:r>
            <a:r>
              <a:rPr lang="it-IT" dirty="0">
                <a:solidFill>
                  <a:srgbClr val="C00000"/>
                </a:solidFill>
              </a:rPr>
              <a:t> 7.5NC </a:t>
            </a:r>
          </a:p>
          <a:p>
            <a:pPr algn="ctr"/>
            <a:r>
              <a:rPr lang="it-IT" dirty="0">
                <a:solidFill>
                  <a:srgbClr val="C00000"/>
                </a:solidFill>
              </a:rPr>
              <a:t>The </a:t>
            </a:r>
            <a:r>
              <a:rPr lang="it-IT" dirty="0" err="1">
                <a:solidFill>
                  <a:srgbClr val="C00000"/>
                </a:solidFill>
              </a:rPr>
              <a:t>version</a:t>
            </a:r>
            <a:r>
              <a:rPr lang="it-IT" dirty="0">
                <a:solidFill>
                  <a:srgbClr val="C00000"/>
                </a:solidFill>
              </a:rPr>
              <a:t> 7.4 </a:t>
            </a:r>
            <a:r>
              <a:rPr lang="it-IT" dirty="0" err="1">
                <a:solidFill>
                  <a:srgbClr val="C00000"/>
                </a:solidFill>
              </a:rPr>
              <a:t>is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also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correct</a:t>
            </a:r>
            <a:endParaRPr lang="it-IT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32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05441A0-32CF-92FD-AFAF-E93CA8173553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cDFPT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phonon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calculation</a:t>
            </a:r>
            <a:endParaRPr lang="fr-FR" sz="2000" dirty="0">
              <a:solidFill>
                <a:srgbClr val="C00000"/>
              </a:solidFill>
              <a:latin typeface="Tahoma"/>
              <a:cs typeface="Tahoma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FA0006F-5C1D-0AF7-EF1D-6F2199F126D9}"/>
              </a:ext>
            </a:extLst>
          </p:cNvPr>
          <p:cNvSpPr txBox="1"/>
          <p:nvPr/>
        </p:nvSpPr>
        <p:spPr>
          <a:xfrm>
            <a:off x="6391835" y="2406186"/>
            <a:ext cx="557604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Diagonalizing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the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dynamical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matrix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    0.000000000   0.000000000   0.000000000 ) </a:t>
            </a:r>
          </a:p>
          <a:p>
            <a:b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*********************************************************************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1) =      -0.436693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-14.566520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2) =      -0.436693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-14.566520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3) =      -0.436693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-14.566520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4) =      12.556812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418.850152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5) =      12.556812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418.850152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6) =      12.556812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418.850152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*********************************************************************</a:t>
            </a:r>
          </a:p>
        </p:txBody>
      </p:sp>
      <p:sp>
        <p:nvSpPr>
          <p:cNvPr id="9" name="ZoneTexte 3">
            <a:extLst>
              <a:ext uri="{FF2B5EF4-FFF2-40B4-BE49-F238E27FC236}">
                <a16:creationId xmlns:a16="http://schemas.microsoft.com/office/drawing/2014/main" id="{B4F9CBD8-1F10-8522-0A58-BC5399DCB672}"/>
              </a:ext>
            </a:extLst>
          </p:cNvPr>
          <p:cNvSpPr txBox="1"/>
          <p:nvPr/>
        </p:nvSpPr>
        <p:spPr>
          <a:xfrm>
            <a:off x="6500840" y="1319384"/>
            <a:ext cx="2194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state</a:t>
            </a:r>
          </a:p>
        </p:txBody>
      </p:sp>
      <p:sp>
        <p:nvSpPr>
          <p:cNvPr id="10" name="ZoneTexte 3">
            <a:extLst>
              <a:ext uri="{FF2B5EF4-FFF2-40B4-BE49-F238E27FC236}">
                <a16:creationId xmlns:a16="http://schemas.microsoft.com/office/drawing/2014/main" id="{99A5503B-0B08-BED4-02EF-81CBBBB142F5}"/>
              </a:ext>
            </a:extLst>
          </p:cNvPr>
          <p:cNvSpPr txBox="1"/>
          <p:nvPr/>
        </p:nvSpPr>
        <p:spPr>
          <a:xfrm>
            <a:off x="454859" y="1335440"/>
            <a:ext cx="2194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Excited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state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52863EC-6B13-BA78-95AC-0BDC8E6E618C}"/>
              </a:ext>
            </a:extLst>
          </p:cNvPr>
          <p:cNvSpPr txBox="1"/>
          <p:nvPr/>
        </p:nvSpPr>
        <p:spPr>
          <a:xfrm>
            <a:off x="71717" y="2406186"/>
            <a:ext cx="617668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Diagonalizing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the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dynamical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matrix</a:t>
            </a: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    0.000000000   0.000000000   0.000000000 ) </a:t>
            </a:r>
          </a:p>
          <a:p>
            <a:b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**************************************************************************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1) =      -0.303738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-10.131598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2) =      -0.303738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-10.131598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3) =      -0.303738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-10.131598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4) =      15.285581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509.872114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5) =      15.285581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509.872114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freq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    6) =      15.285581 [</a:t>
            </a:r>
            <a:r>
              <a:rPr lang="it-IT" sz="1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THz</a:t>
            </a:r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    509.872114 [cm-1]</a:t>
            </a:r>
          </a:p>
          <a:p>
            <a: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**************************************************************************</a:t>
            </a:r>
          </a:p>
          <a:p>
            <a:br>
              <a:rPr lang="it-IT" sz="1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it-IT" sz="1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ZoneTexte 3">
            <a:extLst>
              <a:ext uri="{FF2B5EF4-FFF2-40B4-BE49-F238E27FC236}">
                <a16:creationId xmlns:a16="http://schemas.microsoft.com/office/drawing/2014/main" id="{F58DE8D9-7EBA-C13E-EBEC-4161AC262FCA}"/>
              </a:ext>
            </a:extLst>
          </p:cNvPr>
          <p:cNvSpPr txBox="1"/>
          <p:nvPr/>
        </p:nvSpPr>
        <p:spPr>
          <a:xfrm>
            <a:off x="1767474" y="5431312"/>
            <a:ext cx="7914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Note the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strong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softening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of the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optical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modes due to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photoexcitation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5956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87D6192-EC48-2745-B16D-D282036DB5F4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cDFPT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phonon </a:t>
            </a:r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calculation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Si</a:t>
            </a:r>
          </a:p>
        </p:txBody>
      </p:sp>
      <p:pic>
        <p:nvPicPr>
          <p:cNvPr id="6" name="Immagine 5" descr="Immagine che contiene testo, diagramma, mappa, Piano&#10;&#10;Descrizione generata automaticamente">
            <a:extLst>
              <a:ext uri="{FF2B5EF4-FFF2-40B4-BE49-F238E27FC236}">
                <a16:creationId xmlns:a16="http://schemas.microsoft.com/office/drawing/2014/main" id="{39C69103-DDA3-9279-4EC1-A95E05D81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23" y="878607"/>
            <a:ext cx="7772400" cy="534700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B162084-0F4F-B6B1-E82D-F7D3D9F5636E}"/>
              </a:ext>
            </a:extLst>
          </p:cNvPr>
          <p:cNvSpPr/>
          <p:nvPr/>
        </p:nvSpPr>
        <p:spPr>
          <a:xfrm>
            <a:off x="6095999" y="6471529"/>
            <a:ext cx="62066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555555"/>
                </a:solidFill>
              </a:rPr>
              <a:t>Giovanni Marini and Matteo Calandra,   Phys. </a:t>
            </a:r>
            <a:r>
              <a:rPr lang="fr-FR" sz="1400" dirty="0" err="1">
                <a:solidFill>
                  <a:srgbClr val="555555"/>
                </a:solidFill>
              </a:rPr>
              <a:t>Rev</a:t>
            </a:r>
            <a:r>
              <a:rPr lang="fr-FR" sz="1400" dirty="0">
                <a:solidFill>
                  <a:srgbClr val="555555"/>
                </a:solidFill>
              </a:rPr>
              <a:t>. B </a:t>
            </a:r>
            <a:r>
              <a:rPr lang="fr-FR" sz="1400" b="1" dirty="0">
                <a:solidFill>
                  <a:srgbClr val="555555"/>
                </a:solidFill>
              </a:rPr>
              <a:t>104</a:t>
            </a:r>
            <a:r>
              <a:rPr lang="fr-FR" sz="1400" dirty="0">
                <a:solidFill>
                  <a:srgbClr val="555555"/>
                </a:solidFill>
              </a:rPr>
              <a:t>, 144103 (2021)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CF02C024-C9BE-CE1B-0C41-5E0144769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958" y="2286000"/>
            <a:ext cx="2969323" cy="187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AC9E6D1-8331-1852-37AE-90B0919E2753}"/>
              </a:ext>
            </a:extLst>
          </p:cNvPr>
          <p:cNvSpPr txBox="1"/>
          <p:nvPr/>
        </p:nvSpPr>
        <p:spPr>
          <a:xfrm>
            <a:off x="8231840" y="4439907"/>
            <a:ext cx="3789831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dirty="0"/>
              <a:t>(a)–(c) The </a:t>
            </a:r>
            <a:r>
              <a:rPr lang="it-IT" sz="1100" dirty="0" err="1"/>
              <a:t>three</a:t>
            </a:r>
            <a:r>
              <a:rPr lang="it-IT" sz="1100" dirty="0"/>
              <a:t> </a:t>
            </a:r>
            <a:r>
              <a:rPr lang="it-IT" sz="1100" dirty="0" err="1"/>
              <a:t>sheets</a:t>
            </a:r>
            <a:r>
              <a:rPr lang="it-IT" sz="1100" dirty="0"/>
              <a:t> of the </a:t>
            </a:r>
            <a:r>
              <a:rPr lang="it-IT" sz="1100" dirty="0" err="1"/>
              <a:t>valence</a:t>
            </a:r>
            <a:r>
              <a:rPr lang="it-IT" sz="1100" dirty="0"/>
              <a:t> quasi-FS for silicon </a:t>
            </a:r>
          </a:p>
          <a:p>
            <a:r>
              <a:rPr lang="it-IT" sz="1100" dirty="0" err="1"/>
              <a:t>at</a:t>
            </a:r>
            <a:r>
              <a:rPr lang="it-IT" sz="1100" dirty="0"/>
              <a:t> a PC </a:t>
            </a:r>
            <a:r>
              <a:rPr lang="it-IT" sz="1100" dirty="0" err="1"/>
              <a:t>value</a:t>
            </a:r>
            <a:r>
              <a:rPr lang="it-IT" sz="1100" dirty="0"/>
              <a:t> of 0.2 𝑒/</a:t>
            </a:r>
            <a:r>
              <a:rPr lang="it-IT" sz="1100" dirty="0" err="1"/>
              <a:t>atom</a:t>
            </a:r>
            <a:r>
              <a:rPr lang="it-IT" sz="1100" dirty="0"/>
              <a:t> (d) and (e) The </a:t>
            </a:r>
            <a:r>
              <a:rPr lang="it-IT" sz="1100" dirty="0" err="1"/>
              <a:t>two</a:t>
            </a:r>
            <a:r>
              <a:rPr lang="it-IT" sz="1100" dirty="0"/>
              <a:t> </a:t>
            </a:r>
            <a:r>
              <a:rPr lang="it-IT" sz="1100" dirty="0" err="1"/>
              <a:t>sheets</a:t>
            </a:r>
            <a:r>
              <a:rPr lang="it-IT" sz="1100" dirty="0"/>
              <a:t> of the </a:t>
            </a:r>
          </a:p>
          <a:p>
            <a:r>
              <a:rPr lang="it-IT" sz="1100" dirty="0" err="1"/>
              <a:t>conduction</a:t>
            </a:r>
            <a:r>
              <a:rPr lang="it-IT" sz="1100" dirty="0"/>
              <a:t> quasi-FS </a:t>
            </a:r>
            <a:r>
              <a:rPr lang="it-IT" sz="1100" dirty="0" err="1"/>
              <a:t>at</a:t>
            </a:r>
            <a:r>
              <a:rPr lang="it-IT" sz="1100" dirty="0"/>
              <a:t> a PC </a:t>
            </a:r>
            <a:r>
              <a:rPr lang="it-IT" sz="1100" dirty="0" err="1"/>
              <a:t>value</a:t>
            </a:r>
            <a:r>
              <a:rPr lang="it-IT" sz="1100" dirty="0"/>
              <a:t> of 0.2 𝑒/</a:t>
            </a:r>
            <a:r>
              <a:rPr lang="it-IT" sz="1100" dirty="0" err="1"/>
              <a:t>atom</a:t>
            </a:r>
            <a:r>
              <a:rPr lang="it-IT" sz="1100" dirty="0"/>
              <a:t> FS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62946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079C56E-7692-CC1F-4337-3C33597F9E54}"/>
              </a:ext>
            </a:extLst>
          </p:cNvPr>
          <p:cNvSpPr txBox="1"/>
          <p:nvPr/>
        </p:nvSpPr>
        <p:spPr>
          <a:xfrm>
            <a:off x="1552322" y="232582"/>
            <a:ext cx="9087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C00000"/>
                </a:solidFill>
                <a:latin typeface="Tahoma"/>
                <a:cs typeface="Tahoma"/>
              </a:rPr>
              <a:t>cDFPT</a:t>
            </a:r>
            <a:r>
              <a:rPr lang="fr-FR" sz="2000" dirty="0">
                <a:solidFill>
                  <a:srgbClr val="C00000"/>
                </a:solidFill>
                <a:latin typeface="Tahoma"/>
                <a:cs typeface="Tahoma"/>
              </a:rPr>
              <a:t> – Conclusions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18E0CE-38E7-5345-FD35-E21E23FD2D1A}"/>
              </a:ext>
            </a:extLst>
          </p:cNvPr>
          <p:cNvSpPr/>
          <p:nvPr/>
        </p:nvSpPr>
        <p:spPr>
          <a:xfrm>
            <a:off x="4778187" y="913219"/>
            <a:ext cx="62066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555555"/>
                </a:solidFill>
              </a:rPr>
              <a:t>Giovanni Marini and Matteo Calandra,   Phys. </a:t>
            </a:r>
            <a:r>
              <a:rPr lang="fr-FR" sz="1400" dirty="0" err="1">
                <a:solidFill>
                  <a:srgbClr val="555555"/>
                </a:solidFill>
              </a:rPr>
              <a:t>Rev</a:t>
            </a:r>
            <a:r>
              <a:rPr lang="fr-FR" sz="1400" dirty="0">
                <a:solidFill>
                  <a:srgbClr val="555555"/>
                </a:solidFill>
              </a:rPr>
              <a:t>. B </a:t>
            </a:r>
            <a:r>
              <a:rPr lang="fr-FR" sz="1400" b="1" dirty="0">
                <a:solidFill>
                  <a:srgbClr val="555555"/>
                </a:solidFill>
              </a:rPr>
              <a:t>104</a:t>
            </a:r>
            <a:r>
              <a:rPr lang="fr-FR" sz="1400" dirty="0">
                <a:solidFill>
                  <a:srgbClr val="555555"/>
                </a:solidFill>
              </a:rPr>
              <a:t>, 144103 (2021)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27846B-3A2F-FC7C-8F04-5B1AB947D513}"/>
              </a:ext>
            </a:extLst>
          </p:cNvPr>
          <p:cNvSpPr txBox="1"/>
          <p:nvPr/>
        </p:nvSpPr>
        <p:spPr>
          <a:xfrm>
            <a:off x="806824" y="851664"/>
            <a:ext cx="2052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cite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C5A8C77-A86A-C1D0-4038-38E3B2E89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562" y="1312944"/>
            <a:ext cx="1649443" cy="79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8BF9108-A04F-002C-2FE3-1BF53802267B}"/>
              </a:ext>
            </a:extLst>
          </p:cNvPr>
          <p:cNvSpPr txBox="1"/>
          <p:nvPr/>
        </p:nvSpPr>
        <p:spPr>
          <a:xfrm>
            <a:off x="806824" y="1490407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quantum espresso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EC9CE6E-E1B3-F1D9-EE6C-573ACDB002C6}"/>
              </a:ext>
            </a:extLst>
          </p:cNvPr>
          <p:cNvSpPr txBox="1"/>
          <p:nvPr/>
        </p:nvSpPr>
        <p:spPr>
          <a:xfrm>
            <a:off x="806824" y="2270337"/>
            <a:ext cx="5360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it-IT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cDFPT</a:t>
            </a:r>
            <a:r>
              <a:rPr lang="it-IT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careful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it-IT" sz="1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it-IT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follows: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ED4E95A-5531-EEC2-3ED4-45A3DC0EE07F}"/>
              </a:ext>
            </a:extLst>
          </p:cNvPr>
          <p:cNvSpPr txBox="1"/>
          <p:nvPr/>
        </p:nvSpPr>
        <p:spPr>
          <a:xfrm>
            <a:off x="1246094" y="3061447"/>
            <a:ext cx="102803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it-IT" dirty="0"/>
              <a:t>The code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intended</a:t>
            </a:r>
            <a:r>
              <a:rPr lang="it-IT" dirty="0"/>
              <a:t> to work for </a:t>
            </a:r>
            <a:r>
              <a:rPr lang="it-IT" dirty="0">
                <a:solidFill>
                  <a:srgbClr val="C00000"/>
                </a:solidFill>
              </a:rPr>
              <a:t>systems </a:t>
            </a:r>
            <a:r>
              <a:rPr lang="it-IT" dirty="0" err="1">
                <a:solidFill>
                  <a:srgbClr val="C00000"/>
                </a:solidFill>
              </a:rPr>
              <a:t>that</a:t>
            </a:r>
            <a:r>
              <a:rPr lang="it-IT" dirty="0">
                <a:solidFill>
                  <a:srgbClr val="C00000"/>
                </a:solidFill>
              </a:rPr>
              <a:t> are </a:t>
            </a:r>
            <a:r>
              <a:rPr lang="it-IT" dirty="0" err="1">
                <a:solidFill>
                  <a:srgbClr val="C00000"/>
                </a:solidFill>
              </a:rPr>
              <a:t>gapped</a:t>
            </a:r>
            <a:r>
              <a:rPr lang="it-IT" dirty="0">
                <a:solidFill>
                  <a:srgbClr val="C00000"/>
                </a:solidFill>
              </a:rPr>
              <a:t> after </a:t>
            </a:r>
            <a:r>
              <a:rPr lang="it-IT" dirty="0" err="1">
                <a:solidFill>
                  <a:srgbClr val="C00000"/>
                </a:solidFill>
              </a:rPr>
              <a:t>photoexcitation</a:t>
            </a:r>
            <a:r>
              <a:rPr lang="it-IT" dirty="0"/>
              <a:t>. </a:t>
            </a:r>
            <a:r>
              <a:rPr lang="it-IT" dirty="0" err="1"/>
              <a:t>If</a:t>
            </a:r>
            <a:r>
              <a:rPr lang="it-IT" dirty="0"/>
              <a:t> the gap </a:t>
            </a:r>
            <a:r>
              <a:rPr lang="it-IT" dirty="0" err="1"/>
              <a:t>closes</a:t>
            </a:r>
            <a:endParaRPr lang="it-IT" dirty="0"/>
          </a:p>
          <a:p>
            <a:r>
              <a:rPr lang="it-IT" dirty="0"/>
              <a:t>        after </a:t>
            </a:r>
            <a:r>
              <a:rPr lang="it-IT" dirty="0" err="1"/>
              <a:t>photexcitation</a:t>
            </a:r>
            <a:r>
              <a:rPr lang="it-IT" dirty="0"/>
              <a:t> (</a:t>
            </a:r>
            <a:r>
              <a:rPr lang="it-IT" dirty="0" err="1"/>
              <a:t>usually</a:t>
            </a:r>
            <a:r>
              <a:rPr lang="it-IT" dirty="0"/>
              <a:t> the gap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reduced</a:t>
            </a:r>
            <a:r>
              <a:rPr lang="it-IT" dirty="0"/>
              <a:t> by </a:t>
            </a:r>
            <a:r>
              <a:rPr lang="it-IT" dirty="0" err="1"/>
              <a:t>photoexcitation</a:t>
            </a:r>
            <a:r>
              <a:rPr lang="it-IT" dirty="0"/>
              <a:t>)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work, </a:t>
            </a:r>
            <a:r>
              <a:rPr lang="it-IT" dirty="0" err="1"/>
              <a:t>depends</a:t>
            </a:r>
            <a:r>
              <a:rPr lang="it-IT" dirty="0"/>
              <a:t> on </a:t>
            </a:r>
            <a:r>
              <a:rPr lang="it-IT" dirty="0" err="1"/>
              <a:t>what</a:t>
            </a:r>
            <a:endParaRPr lang="it-IT" dirty="0"/>
          </a:p>
          <a:p>
            <a:r>
              <a:rPr lang="it-IT" dirty="0"/>
              <a:t>        </a:t>
            </a:r>
            <a:r>
              <a:rPr lang="it-IT" dirty="0" err="1"/>
              <a:t>happens</a:t>
            </a:r>
            <a:r>
              <a:rPr lang="it-IT" dirty="0"/>
              <a:t> </a:t>
            </a:r>
            <a:r>
              <a:rPr lang="it-IT" dirty="0" err="1"/>
              <a:t>exactly</a:t>
            </a:r>
            <a:r>
              <a:rPr lang="it-IT" dirty="0"/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723D0AA-DF26-4D79-201A-5ED5C94A98A7}"/>
              </a:ext>
            </a:extLst>
          </p:cNvPr>
          <p:cNvSpPr txBox="1"/>
          <p:nvPr/>
        </p:nvSpPr>
        <p:spPr>
          <a:xfrm>
            <a:off x="1246093" y="4372231"/>
            <a:ext cx="9652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it-IT" dirty="0"/>
              <a:t>Be </a:t>
            </a:r>
            <a:r>
              <a:rPr lang="it-IT" dirty="0" err="1"/>
              <a:t>careful</a:t>
            </a:r>
            <a:r>
              <a:rPr lang="it-IT" dirty="0"/>
              <a:t> with </a:t>
            </a:r>
            <a:r>
              <a:rPr lang="it-IT" dirty="0" err="1"/>
              <a:t>convergence</a:t>
            </a:r>
            <a:r>
              <a:rPr lang="it-IT" dirty="0"/>
              <a:t>. </a:t>
            </a:r>
            <a:r>
              <a:rPr lang="it-IT" dirty="0" err="1"/>
              <a:t>Photoexcitation</a:t>
            </a:r>
            <a:r>
              <a:rPr lang="it-IT" dirty="0"/>
              <a:t> </a:t>
            </a:r>
            <a:r>
              <a:rPr lang="it-IT" dirty="0" err="1"/>
              <a:t>creates</a:t>
            </a:r>
            <a:r>
              <a:rPr lang="it-IT" dirty="0"/>
              <a:t> small Fermi </a:t>
            </a:r>
            <a:r>
              <a:rPr lang="it-IT" dirty="0" err="1"/>
              <a:t>surfaces</a:t>
            </a:r>
            <a:r>
              <a:rPr lang="it-IT" dirty="0"/>
              <a:t> and </a:t>
            </a:r>
            <a:r>
              <a:rPr lang="it-IT" dirty="0" err="1"/>
              <a:t>calculations</a:t>
            </a:r>
            <a:r>
              <a:rPr lang="it-IT" dirty="0"/>
              <a:t> </a:t>
            </a:r>
          </a:p>
          <a:p>
            <a:r>
              <a:rPr lang="it-IT" dirty="0"/>
              <a:t>        </a:t>
            </a:r>
            <a:r>
              <a:rPr lang="it-IT" dirty="0" err="1"/>
              <a:t>requires</a:t>
            </a:r>
            <a:r>
              <a:rPr lang="it-IT" dirty="0"/>
              <a:t> </a:t>
            </a:r>
            <a:r>
              <a:rPr lang="it-IT" dirty="0" err="1">
                <a:solidFill>
                  <a:srgbClr val="C00000"/>
                </a:solidFill>
              </a:rPr>
              <a:t>very</a:t>
            </a:r>
            <a:r>
              <a:rPr lang="it-IT" dirty="0">
                <a:solidFill>
                  <a:srgbClr val="C00000"/>
                </a:solidFill>
              </a:rPr>
              <a:t> dense electron and </a:t>
            </a:r>
            <a:r>
              <a:rPr lang="it-IT" dirty="0" err="1">
                <a:solidFill>
                  <a:srgbClr val="C00000"/>
                </a:solidFill>
              </a:rPr>
              <a:t>phonon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momentum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grids</a:t>
            </a:r>
            <a:r>
              <a:rPr lang="it-IT" dirty="0"/>
              <a:t>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9938E6B-B90E-070B-A27A-81DB0C136A3A}"/>
              </a:ext>
            </a:extLst>
          </p:cNvPr>
          <p:cNvSpPr txBox="1"/>
          <p:nvPr/>
        </p:nvSpPr>
        <p:spPr>
          <a:xfrm>
            <a:off x="1246093" y="5406016"/>
            <a:ext cx="9668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it-IT" dirty="0" err="1"/>
              <a:t>Forces</a:t>
            </a:r>
            <a:r>
              <a:rPr lang="it-IT" dirty="0"/>
              <a:t> can be </a:t>
            </a:r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develop</a:t>
            </a:r>
            <a:r>
              <a:rPr lang="it-IT" dirty="0"/>
              <a:t> machine learning </a:t>
            </a:r>
            <a:r>
              <a:rPr lang="it-IT" dirty="0" err="1"/>
              <a:t>potential</a:t>
            </a:r>
            <a:r>
              <a:rPr lang="it-IT" dirty="0"/>
              <a:t> in the </a:t>
            </a:r>
            <a:r>
              <a:rPr lang="it-IT" dirty="0" err="1"/>
              <a:t>presence</a:t>
            </a:r>
            <a:r>
              <a:rPr lang="it-IT" dirty="0"/>
              <a:t> of </a:t>
            </a:r>
            <a:r>
              <a:rPr lang="it-IT" dirty="0" err="1"/>
              <a:t>photoexcitation</a:t>
            </a:r>
            <a:endParaRPr lang="it-IT" dirty="0"/>
          </a:p>
          <a:p>
            <a:r>
              <a:rPr lang="it-IT" dirty="0"/>
              <a:t>        </a:t>
            </a:r>
            <a:r>
              <a:rPr lang="it-IT" dirty="0" err="1"/>
              <a:t>see</a:t>
            </a:r>
            <a:r>
              <a:rPr lang="it-IT" dirty="0"/>
              <a:t> for </a:t>
            </a:r>
            <a:r>
              <a:rPr lang="it-IT" dirty="0" err="1"/>
              <a:t>example</a:t>
            </a:r>
            <a:r>
              <a:rPr lang="it-IT" dirty="0"/>
              <a:t>:</a:t>
            </a:r>
          </a:p>
        </p:txBody>
      </p:sp>
      <p:pic>
        <p:nvPicPr>
          <p:cNvPr id="13" name="Picture 2" descr="#">
            <a:extLst>
              <a:ext uri="{FF2B5EF4-FFF2-40B4-BE49-F238E27FC236}">
                <a16:creationId xmlns:a16="http://schemas.microsoft.com/office/drawing/2014/main" id="{E770F871-53E6-A95A-450E-C161039DE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260" y="1322084"/>
            <a:ext cx="1312905" cy="87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59C4041-5603-AFE0-877F-D72B79E54C15}"/>
              </a:ext>
            </a:extLst>
          </p:cNvPr>
          <p:cNvSpPr txBox="1"/>
          <p:nvPr/>
        </p:nvSpPr>
        <p:spPr>
          <a:xfrm>
            <a:off x="5973418" y="6052347"/>
            <a:ext cx="52926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rgbClr val="7030A0"/>
                </a:solidFill>
              </a:rPr>
              <a:t>A. Corradini, G. Marini and M.C., </a:t>
            </a:r>
            <a:r>
              <a:rPr lang="it-IT" sz="1200" dirty="0" err="1">
                <a:solidFill>
                  <a:srgbClr val="7030A0"/>
                </a:solidFill>
              </a:rPr>
              <a:t>npj</a:t>
            </a:r>
            <a:r>
              <a:rPr lang="it-IT" sz="1200" dirty="0">
                <a:solidFill>
                  <a:srgbClr val="7030A0"/>
                </a:solidFill>
              </a:rPr>
              <a:t> </a:t>
            </a:r>
            <a:r>
              <a:rPr lang="it-IT" sz="1200" dirty="0" err="1">
                <a:solidFill>
                  <a:srgbClr val="7030A0"/>
                </a:solidFill>
              </a:rPr>
              <a:t>Computational</a:t>
            </a:r>
            <a:r>
              <a:rPr lang="it-IT" sz="1200" dirty="0">
                <a:solidFill>
                  <a:srgbClr val="7030A0"/>
                </a:solidFill>
              </a:rPr>
              <a:t> </a:t>
            </a:r>
            <a:r>
              <a:rPr lang="it-IT" sz="1200" dirty="0" err="1">
                <a:solidFill>
                  <a:srgbClr val="7030A0"/>
                </a:solidFill>
              </a:rPr>
              <a:t>Materials</a:t>
            </a:r>
            <a:r>
              <a:rPr lang="it-IT" sz="1200" dirty="0">
                <a:solidFill>
                  <a:srgbClr val="7030A0"/>
                </a:solidFill>
              </a:rPr>
              <a:t> 11, 151 (2025) </a:t>
            </a:r>
          </a:p>
        </p:txBody>
      </p:sp>
    </p:spTree>
    <p:extLst>
      <p:ext uri="{BB962C8B-B14F-4D97-AF65-F5344CB8AC3E}">
        <p14:creationId xmlns:p14="http://schemas.microsoft.com/office/powerpoint/2010/main" val="274898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2934</TotalTime>
  <Words>3225</Words>
  <Application>Microsoft Macintosh PowerPoint</Application>
  <PresentationFormat>Widescreen</PresentationFormat>
  <Paragraphs>462</Paragraphs>
  <Slides>22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Menlo</vt:lpstr>
      <vt:lpstr>Tahoma</vt:lpstr>
      <vt:lpstr>Times-Roman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Calandra Buonaura, Matteo</dc:creator>
  <cp:lastModifiedBy>Calandra Buonaura, Matteo</cp:lastModifiedBy>
  <cp:revision>8</cp:revision>
  <dcterms:created xsi:type="dcterms:W3CDTF">2026-05-27T08:57:33Z</dcterms:created>
  <dcterms:modified xsi:type="dcterms:W3CDTF">2026-06-01T11:33:28Z</dcterms:modified>
</cp:coreProperties>
</file>